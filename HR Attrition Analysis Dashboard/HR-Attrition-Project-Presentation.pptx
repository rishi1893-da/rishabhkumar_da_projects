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9" d="100"/>
          <a:sy n="89" d="100"/>
        </p:scale>
        <p:origin x="41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CA34D-38DC-51D7-71F7-19F9B8E4A2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02F19D-2FFA-3762-7819-44A5BAA68E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E0DB6E-4070-F1BC-A3A7-AEEDC2540A62}"/>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5" name="Footer Placeholder 4">
            <a:extLst>
              <a:ext uri="{FF2B5EF4-FFF2-40B4-BE49-F238E27FC236}">
                <a16:creationId xmlns:a16="http://schemas.microsoft.com/office/drawing/2014/main" id="{54271293-7395-E9FE-BAF3-CDE9BA7FAC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F05838-D772-B026-CCA8-2346076794AA}"/>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2062218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D6CD9-7A7D-CEE5-DDAF-B5E4460C31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AFDF18-54A3-46CD-4712-CC38F39BE4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0B73B7-AB9C-1722-818F-6BC19C55D309}"/>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5" name="Footer Placeholder 4">
            <a:extLst>
              <a:ext uri="{FF2B5EF4-FFF2-40B4-BE49-F238E27FC236}">
                <a16:creationId xmlns:a16="http://schemas.microsoft.com/office/drawing/2014/main" id="{B5469951-2D27-0291-A2F4-1AE8D98FE6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655687-63E9-06E6-E015-E3D95D8C9981}"/>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3837796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1628-E5EC-59DA-49D9-BD8548D9CB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2FC70B-C0BE-D12E-EF61-67609E9533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2ABC2F-DE0E-0C77-E4E2-9B8E8A43A353}"/>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5" name="Footer Placeholder 4">
            <a:extLst>
              <a:ext uri="{FF2B5EF4-FFF2-40B4-BE49-F238E27FC236}">
                <a16:creationId xmlns:a16="http://schemas.microsoft.com/office/drawing/2014/main" id="{64BF5E8A-A83B-A4C2-A3C0-6EBFBBE1C1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34B94A-D8FC-5BCE-C85D-4DC710C57624}"/>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204158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B387C-5D72-7736-119A-E6734F12FA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5CC331-48A6-FB48-8E29-285D309B53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3CAFF0-4AF8-4956-642A-1C892B4F86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E3A1F2-425B-1E53-0CD1-1AB0EBB7CB10}"/>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6" name="Footer Placeholder 5">
            <a:extLst>
              <a:ext uri="{FF2B5EF4-FFF2-40B4-BE49-F238E27FC236}">
                <a16:creationId xmlns:a16="http://schemas.microsoft.com/office/drawing/2014/main" id="{9031CE89-9A96-AE6B-DAB7-C0E41CF9EA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A88E92-E65F-4B4F-A1F7-36A255737A90}"/>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3639313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ED0A-C307-9B03-171D-A2C2275B54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8C150C-4029-CBD8-BCCB-EDCAF8274A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433B50-D45A-F0E0-C968-2377722BE2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B989D7-75F9-DF5D-F1D2-AF11C26C8F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CA1C27-20C0-9BA3-40AA-2A079BB9CF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ED51FFD-23E5-4991-1BA2-EA78625C3ABE}"/>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8" name="Footer Placeholder 7">
            <a:extLst>
              <a:ext uri="{FF2B5EF4-FFF2-40B4-BE49-F238E27FC236}">
                <a16:creationId xmlns:a16="http://schemas.microsoft.com/office/drawing/2014/main" id="{2D11EC52-6331-1E37-94D9-715B1C4769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D2E8CD-26D1-4D0A-04C7-9BF0DDC34C33}"/>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35723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C6921-AFBB-6A0C-9EEC-5C3593008E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2D38EE-8883-CA50-286F-7A7DFE1BFDFC}"/>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4" name="Footer Placeholder 3">
            <a:extLst>
              <a:ext uri="{FF2B5EF4-FFF2-40B4-BE49-F238E27FC236}">
                <a16:creationId xmlns:a16="http://schemas.microsoft.com/office/drawing/2014/main" id="{E8EF30C8-C1B3-366E-DFCF-97F6E0CC706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B6753E8-D46B-E9A8-7934-337B52532BA3}"/>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3328273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D3D98A-BDD5-5359-764D-EBF772F8B59E}"/>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3" name="Footer Placeholder 2">
            <a:extLst>
              <a:ext uri="{FF2B5EF4-FFF2-40B4-BE49-F238E27FC236}">
                <a16:creationId xmlns:a16="http://schemas.microsoft.com/office/drawing/2014/main" id="{64FAD0B2-E599-3ED7-45F0-3065584FE9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F0CAC05-90AB-C05C-8EE8-45FC6E37368A}"/>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3009492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F758-CF79-29D9-8F06-BF2F3B301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CD504D-9073-D06E-DF50-A81FA1B420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FA34C8-CC93-E14B-B839-7CAF7ECFB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5E8B0-3012-38A2-C535-C1305949C849}"/>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6" name="Footer Placeholder 5">
            <a:extLst>
              <a:ext uri="{FF2B5EF4-FFF2-40B4-BE49-F238E27FC236}">
                <a16:creationId xmlns:a16="http://schemas.microsoft.com/office/drawing/2014/main" id="{7F53D7CB-2EA3-3ACF-507B-4953A04A45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EBAC65-6AA4-5D6F-DE08-4771E5D12C56}"/>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3869109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C6DC0-E84F-0259-95F0-6BC3C4C712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69272EC-1A28-29D3-1C1D-09BDA265E8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18691E-6462-3B1C-B5A4-9C1B6AAC6E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6BBD02-3267-B0FB-4387-A915BBC661F0}"/>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6" name="Footer Placeholder 5">
            <a:extLst>
              <a:ext uri="{FF2B5EF4-FFF2-40B4-BE49-F238E27FC236}">
                <a16:creationId xmlns:a16="http://schemas.microsoft.com/office/drawing/2014/main" id="{1A7776A5-E061-B5A5-DA23-504C489606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31B745-2AAD-56B2-6C32-8947579C504B}"/>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1688046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50FA-0908-8E1E-437A-D3CAE17D1CF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716D7C-8025-0DCB-5F6F-DBEF7EF5C1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D10A53-74CC-67E8-5BAD-9510E9265AD1}"/>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5" name="Footer Placeholder 4">
            <a:extLst>
              <a:ext uri="{FF2B5EF4-FFF2-40B4-BE49-F238E27FC236}">
                <a16:creationId xmlns:a16="http://schemas.microsoft.com/office/drawing/2014/main" id="{8BBA09F6-C519-D19D-244C-9FE584BCCD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7A70C-14CB-B306-651D-8992675451C3}"/>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3150461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724B89-5C6E-1A38-8D00-CD0EC4EFD7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1AE69D-2E50-40D4-B50A-549059C5ED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428D31-8025-698C-57D2-731D8E5F7A45}"/>
              </a:ext>
            </a:extLst>
          </p:cNvPr>
          <p:cNvSpPr>
            <a:spLocks noGrp="1"/>
          </p:cNvSpPr>
          <p:nvPr>
            <p:ph type="dt" sz="half" idx="10"/>
          </p:nvPr>
        </p:nvSpPr>
        <p:spPr/>
        <p:txBody>
          <a:bodyPr/>
          <a:lstStyle/>
          <a:p>
            <a:fld id="{E1DB0A6B-4012-4A02-BB20-EF032781F0C7}" type="datetimeFigureOut">
              <a:rPr lang="en-IN" smtClean="0"/>
              <a:t>07-07-2026</a:t>
            </a:fld>
            <a:endParaRPr lang="en-IN"/>
          </a:p>
        </p:txBody>
      </p:sp>
      <p:sp>
        <p:nvSpPr>
          <p:cNvPr id="5" name="Footer Placeholder 4">
            <a:extLst>
              <a:ext uri="{FF2B5EF4-FFF2-40B4-BE49-F238E27FC236}">
                <a16:creationId xmlns:a16="http://schemas.microsoft.com/office/drawing/2014/main" id="{384C312C-E791-052A-3835-2E2C27CA25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AA150A-667A-B08A-4A6D-E6DED7B93A40}"/>
              </a:ext>
            </a:extLst>
          </p:cNvPr>
          <p:cNvSpPr>
            <a:spLocks noGrp="1"/>
          </p:cNvSpPr>
          <p:nvPr>
            <p:ph type="sldNum" sz="quarter" idx="12"/>
          </p:nvPr>
        </p:nvSpPr>
        <p:spPr/>
        <p:txBody>
          <a:bodyPr/>
          <a:lstStyle/>
          <a:p>
            <a:fld id="{E965BC1F-FF79-4168-B26B-C1CC937BFC4D}" type="slidenum">
              <a:rPr lang="en-IN" smtClean="0"/>
              <a:t>‹#›</a:t>
            </a:fld>
            <a:endParaRPr lang="en-IN"/>
          </a:p>
        </p:txBody>
      </p:sp>
    </p:spTree>
    <p:extLst>
      <p:ext uri="{BB962C8B-B14F-4D97-AF65-F5344CB8AC3E}">
        <p14:creationId xmlns:p14="http://schemas.microsoft.com/office/powerpoint/2010/main" val="2844711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2C1FE2-79D0-1936-313F-6898C1BABE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0E9C85-3535-8B27-4D7E-BCB6ECA551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98FD7A-BA8B-D462-98B7-D8029877A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DB0A6B-4012-4A02-BB20-EF032781F0C7}" type="datetimeFigureOut">
              <a:rPr lang="en-IN" smtClean="0"/>
              <a:t>07-07-2026</a:t>
            </a:fld>
            <a:endParaRPr lang="en-IN"/>
          </a:p>
        </p:txBody>
      </p:sp>
      <p:sp>
        <p:nvSpPr>
          <p:cNvPr id="5" name="Footer Placeholder 4">
            <a:extLst>
              <a:ext uri="{FF2B5EF4-FFF2-40B4-BE49-F238E27FC236}">
                <a16:creationId xmlns:a16="http://schemas.microsoft.com/office/drawing/2014/main" id="{1DFECFDB-505C-A322-F88D-0EE326666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62A0468-E378-7213-F7C3-41FA6000B2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65BC1F-FF79-4168-B26B-C1CC937BFC4D}" type="slidenum">
              <a:rPr lang="en-IN" smtClean="0"/>
              <a:t>‹#›</a:t>
            </a:fld>
            <a:endParaRPr lang="en-IN"/>
          </a:p>
        </p:txBody>
      </p:sp>
    </p:spTree>
    <p:extLst>
      <p:ext uri="{BB962C8B-B14F-4D97-AF65-F5344CB8AC3E}">
        <p14:creationId xmlns:p14="http://schemas.microsoft.com/office/powerpoint/2010/main" val="2292511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hyperlink" Target="https://freepngimg.com/png/26808-excel-transparent-image" TargetMode="Externa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https://luciamonterorodriguez.com/conoce-que-te-ofrece-microsoft-power-bi/" TargetMode="Externa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hyperlink" Target="https://devblogs.microsoft.com/azure-sql/getting-started-with-ai-in-sql-server-2025-on-windows/" TargetMode="Externa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1.sv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3.sv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0" y="0"/>
            <a:ext cx="12192000" cy="6858000"/>
          </a:xfrm>
          <a:prstGeom prst="rect">
            <a:avLst/>
          </a:prstGeom>
          <a:solidFill>
            <a:schemeClr val="tx1">
              <a:alpha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3E10F96-CB4E-1C8A-5546-4B916E73672F}"/>
              </a:ext>
            </a:extLst>
          </p:cNvPr>
          <p:cNvSpPr txBox="1"/>
          <p:nvPr/>
        </p:nvSpPr>
        <p:spPr>
          <a:xfrm>
            <a:off x="2687216" y="2778492"/>
            <a:ext cx="9498434" cy="1354217"/>
          </a:xfrm>
          <a:prstGeom prst="rect">
            <a:avLst/>
          </a:prstGeom>
          <a:noFill/>
        </p:spPr>
        <p:txBody>
          <a:bodyPr wrap="square" rtlCol="0">
            <a:spAutoFit/>
            <a:scene3d>
              <a:camera prst="orthographicFront"/>
              <a:lightRig rig="threePt" dir="t"/>
            </a:scene3d>
            <a:sp3d extrusionH="57150">
              <a:bevelT w="38100" h="38100"/>
            </a:sp3d>
          </a:bodyPr>
          <a:lstStyle/>
          <a:p>
            <a:r>
              <a:rPr lang="en-IN" sz="4100" b="1" dirty="0">
                <a:ln w="12700">
                  <a:solidFill>
                    <a:schemeClr val="tx2">
                      <a:lumMod val="75000"/>
                    </a:schemeClr>
                  </a:solidFill>
                  <a:prstDash val="solid"/>
                </a:ln>
                <a:solidFill>
                  <a:schemeClr val="accent1">
                    <a:lumMod val="40000"/>
                    <a:lumOff val="60000"/>
                  </a:schemeClr>
                </a:solidFill>
                <a:effectLst>
                  <a:outerShdw dist="38100" dir="2640000" algn="bl" rotWithShape="0">
                    <a:schemeClr val="tx2">
                      <a:lumMod val="75000"/>
                    </a:schemeClr>
                  </a:outerShdw>
                </a:effectLst>
                <a:ea typeface="Adobe Gothic Std B" panose="020B0800000000000000" pitchFamily="34" charset="-128"/>
              </a:rPr>
              <a:t>IBM</a:t>
            </a:r>
            <a:r>
              <a:rPr lang="en-IN" sz="4100" b="1" dirty="0">
                <a:solidFill>
                  <a:srgbClr val="C00000"/>
                </a:solidFill>
                <a:ea typeface="Adobe Gothic Std B" panose="020B0800000000000000" pitchFamily="34" charset="-128"/>
              </a:rPr>
              <a:t> </a:t>
            </a:r>
            <a:r>
              <a:rPr lang="en-IN" sz="4100" b="1" dirty="0">
                <a:solidFill>
                  <a:schemeClr val="bg1"/>
                </a:solidFill>
                <a:ea typeface="Adobe Gothic Std B" panose="020B0800000000000000" pitchFamily="34" charset="-128"/>
              </a:rPr>
              <a:t>DATA ANALYTICS -</a:t>
            </a:r>
          </a:p>
          <a:p>
            <a:r>
              <a:rPr lang="en-IN" sz="4100" b="1" dirty="0">
                <a:solidFill>
                  <a:schemeClr val="bg1"/>
                </a:solidFill>
                <a:ea typeface="Adobe Gothic Std B" panose="020B0800000000000000" pitchFamily="34" charset="-128"/>
              </a:rPr>
              <a:t>HR ATTRITION PROJECT PRESENTATION</a:t>
            </a:r>
          </a:p>
        </p:txBody>
      </p:sp>
      <p:sp>
        <p:nvSpPr>
          <p:cNvPr id="6" name="TextBox 5">
            <a:extLst>
              <a:ext uri="{FF2B5EF4-FFF2-40B4-BE49-F238E27FC236}">
                <a16:creationId xmlns:a16="http://schemas.microsoft.com/office/drawing/2014/main" id="{448A1291-7AC9-4276-CFC4-CAD6961C4941}"/>
              </a:ext>
            </a:extLst>
          </p:cNvPr>
          <p:cNvSpPr txBox="1"/>
          <p:nvPr/>
        </p:nvSpPr>
        <p:spPr>
          <a:xfrm>
            <a:off x="8623300" y="5726880"/>
            <a:ext cx="3568700" cy="1077218"/>
          </a:xfrm>
          <a:prstGeom prst="rect">
            <a:avLst/>
          </a:prstGeom>
          <a:noFill/>
        </p:spPr>
        <p:txBody>
          <a:bodyPr wrap="square" rtlCol="0">
            <a:spAutoFit/>
          </a:bodyPr>
          <a:lstStyle/>
          <a:p>
            <a:r>
              <a:rPr lang="en-IN" sz="3200" b="1" u="sng" dirty="0">
                <a:solidFill>
                  <a:schemeClr val="accent1">
                    <a:lumMod val="40000"/>
                    <a:lumOff val="60000"/>
                  </a:schemeClr>
                </a:solidFill>
                <a:ea typeface="Adobe Gothic Std B" panose="020B0800000000000000" pitchFamily="34" charset="-128"/>
              </a:rPr>
              <a:t>PRESENTED BY:</a:t>
            </a:r>
          </a:p>
          <a:p>
            <a:r>
              <a:rPr lang="en-IN" sz="3200" b="1" dirty="0">
                <a:solidFill>
                  <a:schemeClr val="bg1"/>
                </a:solidFill>
                <a:ea typeface="Adobe Gothic Std B" panose="020B0800000000000000" pitchFamily="34" charset="-128"/>
              </a:rPr>
              <a:t>RISHABH KUMAR</a:t>
            </a:r>
          </a:p>
        </p:txBody>
      </p:sp>
      <p:pic>
        <p:nvPicPr>
          <p:cNvPr id="8" name="Picture 7">
            <a:extLst>
              <a:ext uri="{FF2B5EF4-FFF2-40B4-BE49-F238E27FC236}">
                <a16:creationId xmlns:a16="http://schemas.microsoft.com/office/drawing/2014/main" id="{C61A56F3-0344-56B8-682E-5865E84E6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555" y="2373863"/>
            <a:ext cx="2110273" cy="2110273"/>
          </a:xfrm>
          <a:prstGeom prst="rect">
            <a:avLst/>
          </a:prstGeom>
        </p:spPr>
      </p:pic>
    </p:spTree>
    <p:extLst>
      <p:ext uri="{BB962C8B-B14F-4D97-AF65-F5344CB8AC3E}">
        <p14:creationId xmlns:p14="http://schemas.microsoft.com/office/powerpoint/2010/main" val="81312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12" name="Title 1">
            <a:extLst>
              <a:ext uri="{FF2B5EF4-FFF2-40B4-BE49-F238E27FC236}">
                <a16:creationId xmlns:a16="http://schemas.microsoft.com/office/drawing/2014/main" id="{952C4C47-A923-7A19-CE4F-A8E9C578D3BA}"/>
              </a:ext>
            </a:extLst>
          </p:cNvPr>
          <p:cNvSpPr txBox="1">
            <a:spLocks/>
          </p:cNvSpPr>
          <p:nvPr/>
        </p:nvSpPr>
        <p:spPr>
          <a:xfrm>
            <a:off x="1477736" y="681037"/>
            <a:ext cx="9876064" cy="100965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TABLE OF CONTENTS</a:t>
            </a:r>
          </a:p>
        </p:txBody>
      </p:sp>
      <p:pic>
        <p:nvPicPr>
          <p:cNvPr id="13" name="Graphic 12" descr="Table with solid fill">
            <a:extLst>
              <a:ext uri="{FF2B5EF4-FFF2-40B4-BE49-F238E27FC236}">
                <a16:creationId xmlns:a16="http://schemas.microsoft.com/office/drawing/2014/main" id="{32036DCC-41B7-BB9D-D8B5-CB89074DD2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226" y="751899"/>
            <a:ext cx="1080938" cy="1080938"/>
          </a:xfrm>
          <a:prstGeom prst="rect">
            <a:avLst/>
          </a:prstGeom>
        </p:spPr>
      </p:pic>
      <p:sp>
        <p:nvSpPr>
          <p:cNvPr id="14" name="Content Placeholder 2">
            <a:extLst>
              <a:ext uri="{FF2B5EF4-FFF2-40B4-BE49-F238E27FC236}">
                <a16:creationId xmlns:a16="http://schemas.microsoft.com/office/drawing/2014/main" id="{913A44CE-24E9-1D2E-CE9D-325679B7B51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Summary of Project.</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KPI List.</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EXCEL Dashboard.</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POWER BI Dashboard.</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Tableau Dashboard.</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SQL Queries.</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Conclusion.</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Key Insights.</a:t>
            </a:r>
          </a:p>
        </p:txBody>
      </p:sp>
      <p:pic>
        <p:nvPicPr>
          <p:cNvPr id="7" name="Picture 6">
            <a:extLst>
              <a:ext uri="{FF2B5EF4-FFF2-40B4-BE49-F238E27FC236}">
                <a16:creationId xmlns:a16="http://schemas.microsoft.com/office/drawing/2014/main" id="{B1D003B8-2B33-5B86-325B-878CB9C4E97E}"/>
              </a:ext>
            </a:extLst>
          </p:cNvPr>
          <p:cNvPicPr>
            <a:picLocks noChangeAspect="1"/>
          </p:cNvPicPr>
          <p:nvPr/>
        </p:nvPicPr>
        <p:blipFill>
          <a:blip r:embed="rId6"/>
          <a:stretch>
            <a:fillRect/>
          </a:stretch>
        </p:blipFill>
        <p:spPr>
          <a:xfrm>
            <a:off x="9517224" y="5229426"/>
            <a:ext cx="2681126" cy="1628574"/>
          </a:xfrm>
          <a:prstGeom prst="rect">
            <a:avLst/>
          </a:prstGeom>
        </p:spPr>
      </p:pic>
    </p:spTree>
    <p:extLst>
      <p:ext uri="{BB962C8B-B14F-4D97-AF65-F5344CB8AC3E}">
        <p14:creationId xmlns:p14="http://schemas.microsoft.com/office/powerpoint/2010/main" val="876757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14" name="Content Placeholder 2">
            <a:extLst>
              <a:ext uri="{FF2B5EF4-FFF2-40B4-BE49-F238E27FC236}">
                <a16:creationId xmlns:a16="http://schemas.microsoft.com/office/drawing/2014/main" id="{913A44CE-24E9-1D2E-CE9D-325679B7B51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ln w="0">
                  <a:solidFill>
                    <a:schemeClr val="tx1"/>
                  </a:solidFill>
                </a:ln>
                <a:solidFill>
                  <a:schemeClr val="accent1">
                    <a:lumMod val="40000"/>
                    <a:lumOff val="60000"/>
                  </a:schemeClr>
                </a:solidFill>
              </a:rPr>
              <a:t>The HR Attrition dataset includes information on employees such as age, department, job role, income, education, experience, performance, and attrition rate. It assists in analyzing variables that influence employee turnover, identifying high-risk groups, and implementing data-driven HR solutions to increase retention, employee satisfaction, workforce planning, and organizational performance.</a:t>
            </a:r>
            <a:endParaRPr lang="en-IN" b="1" dirty="0">
              <a:ln w="0">
                <a:solidFill>
                  <a:schemeClr val="tx1"/>
                </a:solidFill>
              </a:ln>
              <a:solidFill>
                <a:schemeClr val="accent1">
                  <a:lumMod val="40000"/>
                  <a:lumOff val="60000"/>
                </a:schemeClr>
              </a:solidFill>
            </a:endParaRPr>
          </a:p>
        </p:txBody>
      </p:sp>
      <p:sp>
        <p:nvSpPr>
          <p:cNvPr id="2" name="Title 1">
            <a:extLst>
              <a:ext uri="{FF2B5EF4-FFF2-40B4-BE49-F238E27FC236}">
                <a16:creationId xmlns:a16="http://schemas.microsoft.com/office/drawing/2014/main" id="{DD6E578E-0F57-EA13-A95E-E6E38ABDB456}"/>
              </a:ext>
            </a:extLst>
          </p:cNvPr>
          <p:cNvSpPr txBox="1">
            <a:spLocks/>
          </p:cNvSpPr>
          <p:nvPr/>
        </p:nvSpPr>
        <p:spPr>
          <a:xfrm>
            <a:off x="1224644" y="715108"/>
            <a:ext cx="10129156" cy="9755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SUMMARY OF THE PROJECT</a:t>
            </a:r>
          </a:p>
        </p:txBody>
      </p:sp>
      <p:pic>
        <p:nvPicPr>
          <p:cNvPr id="3" name="Graphic 2" descr="Typewriter with solid fill">
            <a:extLst>
              <a:ext uri="{FF2B5EF4-FFF2-40B4-BE49-F238E27FC236}">
                <a16:creationId xmlns:a16="http://schemas.microsoft.com/office/drawing/2014/main" id="{5679EE3B-B87D-4A5B-972A-DB919064E1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2206" y="776288"/>
            <a:ext cx="914400" cy="914400"/>
          </a:xfrm>
          <a:prstGeom prst="rect">
            <a:avLst/>
          </a:prstGeom>
        </p:spPr>
      </p:pic>
      <p:pic>
        <p:nvPicPr>
          <p:cNvPr id="6" name="Picture 5">
            <a:extLst>
              <a:ext uri="{FF2B5EF4-FFF2-40B4-BE49-F238E27FC236}">
                <a16:creationId xmlns:a16="http://schemas.microsoft.com/office/drawing/2014/main" id="{426549F5-F70F-117F-A070-1AD527608DB5}"/>
              </a:ext>
            </a:extLst>
          </p:cNvPr>
          <p:cNvPicPr>
            <a:picLocks noChangeAspect="1"/>
          </p:cNvPicPr>
          <p:nvPr/>
        </p:nvPicPr>
        <p:blipFill>
          <a:blip r:embed="rId6"/>
          <a:stretch>
            <a:fillRect/>
          </a:stretch>
        </p:blipFill>
        <p:spPr>
          <a:xfrm>
            <a:off x="9517224" y="5229426"/>
            <a:ext cx="2681126" cy="1628574"/>
          </a:xfrm>
          <a:prstGeom prst="rect">
            <a:avLst/>
          </a:prstGeom>
        </p:spPr>
      </p:pic>
    </p:spTree>
    <p:extLst>
      <p:ext uri="{BB962C8B-B14F-4D97-AF65-F5344CB8AC3E}">
        <p14:creationId xmlns:p14="http://schemas.microsoft.com/office/powerpoint/2010/main" val="2216514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635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14" name="Content Placeholder 2">
            <a:extLst>
              <a:ext uri="{FF2B5EF4-FFF2-40B4-BE49-F238E27FC236}">
                <a16:creationId xmlns:a16="http://schemas.microsoft.com/office/drawing/2014/main" id="{913A44CE-24E9-1D2E-CE9D-325679B7B514}"/>
              </a:ext>
            </a:extLst>
          </p:cNvPr>
          <p:cNvSpPr txBox="1">
            <a:spLocks/>
          </p:cNvSpPr>
          <p:nvPr/>
        </p:nvSpPr>
        <p:spPr>
          <a:xfrm>
            <a:off x="838200" y="1825625"/>
            <a:ext cx="10515600" cy="4351338"/>
          </a:xfrm>
          <a:prstGeom prst="rect">
            <a:avLst/>
          </a:prstGeom>
        </p:spPr>
        <p:txBody>
          <a:bodyPr vert="horz" wrap="square"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Total Employees.</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Attrition Count.</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Attrition Rate.</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Active Employees.</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Average Age.</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Average Income.</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Average Working Years.</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Attrition by Department.</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Attrition by Education field.</a:t>
            </a:r>
          </a:p>
          <a:p>
            <a:pPr marL="342900" indent="-342900" algn="l">
              <a:buFont typeface="Arial" panose="020B0604020202020204" pitchFamily="34" charset="0"/>
              <a:buChar char="•"/>
            </a:pPr>
            <a:r>
              <a:rPr lang="en-IN" b="1" dirty="0">
                <a:ln w="0">
                  <a:solidFill>
                    <a:schemeClr val="tx1"/>
                  </a:solidFill>
                </a:ln>
                <a:solidFill>
                  <a:schemeClr val="accent1">
                    <a:lumMod val="40000"/>
                    <a:lumOff val="60000"/>
                  </a:schemeClr>
                </a:solidFill>
              </a:rPr>
              <a:t>Attrition by Job Satisfaction.</a:t>
            </a:r>
          </a:p>
          <a:p>
            <a:pPr marL="342900" indent="-342900" algn="l">
              <a:buFont typeface="Arial" panose="020B0604020202020204" pitchFamily="34" charset="0"/>
              <a:buChar char="•"/>
            </a:pPr>
            <a:endParaRPr lang="en-IN" b="1" dirty="0">
              <a:ln w="0">
                <a:solidFill>
                  <a:schemeClr val="tx1"/>
                </a:solidFill>
              </a:ln>
              <a:solidFill>
                <a:schemeClr val="accent1">
                  <a:lumMod val="40000"/>
                  <a:lumOff val="60000"/>
                </a:schemeClr>
              </a:solidFill>
            </a:endParaRPr>
          </a:p>
          <a:p>
            <a:pPr marL="342900" indent="-342900" algn="l">
              <a:buFont typeface="Arial" panose="020B0604020202020204" pitchFamily="34" charset="0"/>
              <a:buChar char="•"/>
            </a:pPr>
            <a:endParaRPr lang="en-IN" b="1" dirty="0">
              <a:ln w="0">
                <a:solidFill>
                  <a:schemeClr val="tx1"/>
                </a:solidFill>
              </a:ln>
              <a:solidFill>
                <a:schemeClr val="accent1">
                  <a:lumMod val="40000"/>
                  <a:lumOff val="60000"/>
                </a:schemeClr>
              </a:solidFill>
            </a:endParaRPr>
          </a:p>
        </p:txBody>
      </p:sp>
      <p:sp>
        <p:nvSpPr>
          <p:cNvPr id="5" name="Title 1">
            <a:extLst>
              <a:ext uri="{FF2B5EF4-FFF2-40B4-BE49-F238E27FC236}">
                <a16:creationId xmlns:a16="http://schemas.microsoft.com/office/drawing/2014/main" id="{0AD44407-CA45-C211-9858-025430F8F67A}"/>
              </a:ext>
            </a:extLst>
          </p:cNvPr>
          <p:cNvSpPr txBox="1">
            <a:spLocks/>
          </p:cNvSpPr>
          <p:nvPr/>
        </p:nvSpPr>
        <p:spPr>
          <a:xfrm>
            <a:off x="1330779" y="816429"/>
            <a:ext cx="10023021" cy="87425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KPI LIST</a:t>
            </a:r>
          </a:p>
        </p:txBody>
      </p:sp>
      <p:pic>
        <p:nvPicPr>
          <p:cNvPr id="6" name="Graphic 5" descr="Credit card with solid fill">
            <a:extLst>
              <a:ext uri="{FF2B5EF4-FFF2-40B4-BE49-F238E27FC236}">
                <a16:creationId xmlns:a16="http://schemas.microsoft.com/office/drawing/2014/main" id="{2DBA7CC7-AF47-34CF-0377-96C741E530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4310" y="812928"/>
            <a:ext cx="914400" cy="914400"/>
          </a:xfrm>
          <a:prstGeom prst="rect">
            <a:avLst/>
          </a:prstGeom>
        </p:spPr>
      </p:pic>
      <p:pic>
        <p:nvPicPr>
          <p:cNvPr id="3" name="Picture 2">
            <a:extLst>
              <a:ext uri="{FF2B5EF4-FFF2-40B4-BE49-F238E27FC236}">
                <a16:creationId xmlns:a16="http://schemas.microsoft.com/office/drawing/2014/main" id="{A90F2D73-B14C-DB8E-0406-112531DEB3B6}"/>
              </a:ext>
            </a:extLst>
          </p:cNvPr>
          <p:cNvPicPr>
            <a:picLocks noChangeAspect="1"/>
          </p:cNvPicPr>
          <p:nvPr/>
        </p:nvPicPr>
        <p:blipFill>
          <a:blip r:embed="rId6"/>
          <a:stretch>
            <a:fillRect/>
          </a:stretch>
        </p:blipFill>
        <p:spPr>
          <a:xfrm>
            <a:off x="9517224" y="5229426"/>
            <a:ext cx="2681126" cy="1628574"/>
          </a:xfrm>
          <a:prstGeom prst="rect">
            <a:avLst/>
          </a:prstGeom>
        </p:spPr>
      </p:pic>
    </p:spTree>
    <p:extLst>
      <p:ext uri="{BB962C8B-B14F-4D97-AF65-F5344CB8AC3E}">
        <p14:creationId xmlns:p14="http://schemas.microsoft.com/office/powerpoint/2010/main" val="736128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2" name="Title 1">
            <a:extLst>
              <a:ext uri="{FF2B5EF4-FFF2-40B4-BE49-F238E27FC236}">
                <a16:creationId xmlns:a16="http://schemas.microsoft.com/office/drawing/2014/main" id="{198269AA-01E1-A599-4433-DA0F3449386D}"/>
              </a:ext>
            </a:extLst>
          </p:cNvPr>
          <p:cNvSpPr txBox="1">
            <a:spLocks/>
          </p:cNvSpPr>
          <p:nvPr/>
        </p:nvSpPr>
        <p:spPr>
          <a:xfrm>
            <a:off x="1249136" y="952393"/>
            <a:ext cx="10104663" cy="738295"/>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EXCEL DASHBOARD</a:t>
            </a:r>
          </a:p>
        </p:txBody>
      </p:sp>
      <p:pic>
        <p:nvPicPr>
          <p:cNvPr id="3" name="Picture 2">
            <a:extLst>
              <a:ext uri="{FF2B5EF4-FFF2-40B4-BE49-F238E27FC236}">
                <a16:creationId xmlns:a16="http://schemas.microsoft.com/office/drawing/2014/main" id="{EFDA08C3-5A28-F9D1-E874-E52B6E15D25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72216" y="860421"/>
            <a:ext cx="671177" cy="671177"/>
          </a:xfrm>
          <a:prstGeom prst="rect">
            <a:avLst/>
          </a:prstGeom>
        </p:spPr>
      </p:pic>
      <p:pic>
        <p:nvPicPr>
          <p:cNvPr id="8" name="Picture 7">
            <a:extLst>
              <a:ext uri="{FF2B5EF4-FFF2-40B4-BE49-F238E27FC236}">
                <a16:creationId xmlns:a16="http://schemas.microsoft.com/office/drawing/2014/main" id="{D8DED0C1-ABBF-FD49-9C8A-C7EBB3EA4D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143" y="1710965"/>
            <a:ext cx="10170367" cy="4982660"/>
          </a:xfrm>
          <a:prstGeom prst="rect">
            <a:avLst/>
          </a:prstGeom>
          <a:ln w="57150">
            <a:solidFill>
              <a:schemeClr val="bg2"/>
            </a:solidFill>
          </a:ln>
        </p:spPr>
      </p:pic>
    </p:spTree>
    <p:extLst>
      <p:ext uri="{BB962C8B-B14F-4D97-AF65-F5344CB8AC3E}">
        <p14:creationId xmlns:p14="http://schemas.microsoft.com/office/powerpoint/2010/main" val="3977408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5" name="Title 1">
            <a:extLst>
              <a:ext uri="{FF2B5EF4-FFF2-40B4-BE49-F238E27FC236}">
                <a16:creationId xmlns:a16="http://schemas.microsoft.com/office/drawing/2014/main" id="{EAA5AAC1-B726-14D6-AAD4-C7FE293FE9C2}"/>
              </a:ext>
            </a:extLst>
          </p:cNvPr>
          <p:cNvSpPr txBox="1">
            <a:spLocks/>
          </p:cNvSpPr>
          <p:nvPr/>
        </p:nvSpPr>
        <p:spPr>
          <a:xfrm>
            <a:off x="1085997" y="849086"/>
            <a:ext cx="10267803" cy="8416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POWER BI DASHBOARD</a:t>
            </a:r>
          </a:p>
        </p:txBody>
      </p:sp>
      <p:pic>
        <p:nvPicPr>
          <p:cNvPr id="6" name="Picture 5">
            <a:extLst>
              <a:ext uri="{FF2B5EF4-FFF2-40B4-BE49-F238E27FC236}">
                <a16:creationId xmlns:a16="http://schemas.microsoft.com/office/drawing/2014/main" id="{7ED03538-1B81-4E0E-342E-362F1363D3C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59795" y="956644"/>
            <a:ext cx="612377" cy="638528"/>
          </a:xfrm>
          <a:prstGeom prst="rect">
            <a:avLst/>
          </a:prstGeom>
        </p:spPr>
      </p:pic>
      <p:pic>
        <p:nvPicPr>
          <p:cNvPr id="8" name="Picture 7">
            <a:extLst>
              <a:ext uri="{FF2B5EF4-FFF2-40B4-BE49-F238E27FC236}">
                <a16:creationId xmlns:a16="http://schemas.microsoft.com/office/drawing/2014/main" id="{764289AB-54B2-9AE0-93A1-A62D20CC73C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7531" y="1774667"/>
            <a:ext cx="9182877" cy="4898908"/>
          </a:xfrm>
          <a:prstGeom prst="rect">
            <a:avLst/>
          </a:prstGeom>
          <a:ln w="57150">
            <a:solidFill>
              <a:schemeClr val="bg1"/>
            </a:solidFill>
          </a:ln>
        </p:spPr>
      </p:pic>
    </p:spTree>
    <p:extLst>
      <p:ext uri="{BB962C8B-B14F-4D97-AF65-F5344CB8AC3E}">
        <p14:creationId xmlns:p14="http://schemas.microsoft.com/office/powerpoint/2010/main" val="808096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2" name="Title 1">
            <a:extLst>
              <a:ext uri="{FF2B5EF4-FFF2-40B4-BE49-F238E27FC236}">
                <a16:creationId xmlns:a16="http://schemas.microsoft.com/office/drawing/2014/main" id="{49959339-041A-13CC-F06C-5E49A15544B9}"/>
              </a:ext>
            </a:extLst>
          </p:cNvPr>
          <p:cNvSpPr txBox="1">
            <a:spLocks/>
          </p:cNvSpPr>
          <p:nvPr/>
        </p:nvSpPr>
        <p:spPr>
          <a:xfrm>
            <a:off x="1387928" y="873579"/>
            <a:ext cx="9965871" cy="81710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TABLEAU DASHBOARD</a:t>
            </a:r>
          </a:p>
        </p:txBody>
      </p:sp>
      <p:pic>
        <p:nvPicPr>
          <p:cNvPr id="3" name="Picture 2">
            <a:extLst>
              <a:ext uri="{FF2B5EF4-FFF2-40B4-BE49-F238E27FC236}">
                <a16:creationId xmlns:a16="http://schemas.microsoft.com/office/drawing/2014/main" id="{8B920B6D-197A-A6E8-75D3-9FE375F89935}"/>
              </a:ext>
            </a:extLst>
          </p:cNvPr>
          <p:cNvPicPr>
            <a:picLocks noChangeAspect="1"/>
          </p:cNvPicPr>
          <p:nvPr/>
        </p:nvPicPr>
        <p:blipFill>
          <a:blip r:embed="rId4"/>
          <a:stretch>
            <a:fillRect/>
          </a:stretch>
        </p:blipFill>
        <p:spPr>
          <a:xfrm>
            <a:off x="233692" y="881957"/>
            <a:ext cx="1266837" cy="772986"/>
          </a:xfrm>
          <a:prstGeom prst="rect">
            <a:avLst/>
          </a:prstGeom>
        </p:spPr>
      </p:pic>
      <p:pic>
        <p:nvPicPr>
          <p:cNvPr id="6" name="Picture 5">
            <a:extLst>
              <a:ext uri="{FF2B5EF4-FFF2-40B4-BE49-F238E27FC236}">
                <a16:creationId xmlns:a16="http://schemas.microsoft.com/office/drawing/2014/main" id="{254A0660-1383-9922-E0B9-C1DFE47D3204}"/>
              </a:ext>
            </a:extLst>
          </p:cNvPr>
          <p:cNvPicPr>
            <a:picLocks noChangeAspect="1"/>
          </p:cNvPicPr>
          <p:nvPr/>
        </p:nvPicPr>
        <p:blipFill>
          <a:blip r:embed="rId5"/>
          <a:stretch>
            <a:fillRect/>
          </a:stretch>
        </p:blipFill>
        <p:spPr>
          <a:xfrm>
            <a:off x="1001824" y="1654943"/>
            <a:ext cx="9720810" cy="4978770"/>
          </a:xfrm>
          <a:prstGeom prst="rect">
            <a:avLst/>
          </a:prstGeom>
          <a:ln w="19050">
            <a:solidFill>
              <a:schemeClr val="bg1"/>
            </a:solidFill>
          </a:ln>
        </p:spPr>
      </p:pic>
    </p:spTree>
    <p:extLst>
      <p:ext uri="{BB962C8B-B14F-4D97-AF65-F5344CB8AC3E}">
        <p14:creationId xmlns:p14="http://schemas.microsoft.com/office/powerpoint/2010/main" val="358180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0" y="3"/>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7" name="Title 1">
            <a:extLst>
              <a:ext uri="{FF2B5EF4-FFF2-40B4-BE49-F238E27FC236}">
                <a16:creationId xmlns:a16="http://schemas.microsoft.com/office/drawing/2014/main" id="{B76F07D7-72A3-AB39-961E-BE42BFCF87B9}"/>
              </a:ext>
            </a:extLst>
          </p:cNvPr>
          <p:cNvSpPr txBox="1">
            <a:spLocks/>
          </p:cNvSpPr>
          <p:nvPr/>
        </p:nvSpPr>
        <p:spPr>
          <a:xfrm>
            <a:off x="1224524" y="947057"/>
            <a:ext cx="10129276" cy="743631"/>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SQL QUERIES</a:t>
            </a:r>
          </a:p>
        </p:txBody>
      </p:sp>
      <p:pic>
        <p:nvPicPr>
          <p:cNvPr id="10" name="Picture 9">
            <a:extLst>
              <a:ext uri="{FF2B5EF4-FFF2-40B4-BE49-F238E27FC236}">
                <a16:creationId xmlns:a16="http://schemas.microsoft.com/office/drawing/2014/main" id="{A73A4B3D-B720-0335-10CF-B0FF23D87DD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0" y="595813"/>
            <a:ext cx="1343694" cy="1341192"/>
          </a:xfrm>
          <a:prstGeom prst="rect">
            <a:avLst/>
          </a:prstGeom>
        </p:spPr>
      </p:pic>
      <p:pic>
        <p:nvPicPr>
          <p:cNvPr id="12" name="Picture 11">
            <a:extLst>
              <a:ext uri="{FF2B5EF4-FFF2-40B4-BE49-F238E27FC236}">
                <a16:creationId xmlns:a16="http://schemas.microsoft.com/office/drawing/2014/main" id="{7E71A974-DDB6-EE5E-5F02-BE458BA01C38}"/>
              </a:ext>
            </a:extLst>
          </p:cNvPr>
          <p:cNvPicPr>
            <a:picLocks noChangeAspect="1"/>
          </p:cNvPicPr>
          <p:nvPr/>
        </p:nvPicPr>
        <p:blipFill>
          <a:blip r:embed="rId6"/>
          <a:stretch>
            <a:fillRect/>
          </a:stretch>
        </p:blipFill>
        <p:spPr>
          <a:xfrm>
            <a:off x="699190" y="1849309"/>
            <a:ext cx="5493491" cy="4773034"/>
          </a:xfrm>
          <a:prstGeom prst="rect">
            <a:avLst/>
          </a:prstGeom>
          <a:ln w="57150">
            <a:solidFill>
              <a:schemeClr val="accent1">
                <a:lumMod val="40000"/>
                <a:lumOff val="60000"/>
              </a:schemeClr>
            </a:solidFill>
          </a:ln>
        </p:spPr>
      </p:pic>
      <p:pic>
        <p:nvPicPr>
          <p:cNvPr id="15" name="Picture 14">
            <a:extLst>
              <a:ext uri="{FF2B5EF4-FFF2-40B4-BE49-F238E27FC236}">
                <a16:creationId xmlns:a16="http://schemas.microsoft.com/office/drawing/2014/main" id="{50032943-9520-FEA2-42EA-BA505789C7EE}"/>
              </a:ext>
            </a:extLst>
          </p:cNvPr>
          <p:cNvPicPr>
            <a:picLocks noChangeAspect="1"/>
          </p:cNvPicPr>
          <p:nvPr/>
        </p:nvPicPr>
        <p:blipFill>
          <a:blip r:embed="rId7"/>
          <a:stretch>
            <a:fillRect/>
          </a:stretch>
        </p:blipFill>
        <p:spPr>
          <a:xfrm>
            <a:off x="6720415" y="1846721"/>
            <a:ext cx="4401674" cy="4775622"/>
          </a:xfrm>
          <a:prstGeom prst="rect">
            <a:avLst/>
          </a:prstGeom>
          <a:ln w="57150">
            <a:solidFill>
              <a:schemeClr val="accent1">
                <a:lumMod val="40000"/>
                <a:lumOff val="60000"/>
              </a:schemeClr>
            </a:solidFill>
          </a:ln>
        </p:spPr>
      </p:pic>
    </p:spTree>
    <p:extLst>
      <p:ext uri="{BB962C8B-B14F-4D97-AF65-F5344CB8AC3E}">
        <p14:creationId xmlns:p14="http://schemas.microsoft.com/office/powerpoint/2010/main" val="5048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635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14" name="Content Placeholder 2">
            <a:extLst>
              <a:ext uri="{FF2B5EF4-FFF2-40B4-BE49-F238E27FC236}">
                <a16:creationId xmlns:a16="http://schemas.microsoft.com/office/drawing/2014/main" id="{913A44CE-24E9-1D2E-CE9D-325679B7B51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ln w="0">
                  <a:solidFill>
                    <a:schemeClr val="tx1"/>
                  </a:solidFill>
                </a:ln>
                <a:solidFill>
                  <a:schemeClr val="accent1">
                    <a:lumMod val="40000"/>
                    <a:lumOff val="60000"/>
                  </a:schemeClr>
                </a:solidFill>
              </a:rPr>
              <a:t>The HR Attrition Dashboard shows an overall attrition rate of about </a:t>
            </a:r>
            <a:r>
              <a:rPr lang="en-US" b="1" dirty="0">
                <a:ln w="0">
                  <a:solidFill>
                    <a:schemeClr val="tx1"/>
                  </a:solidFill>
                </a:ln>
                <a:solidFill>
                  <a:schemeClr val="bg1"/>
                </a:solidFill>
              </a:rPr>
              <a:t>16%</a:t>
            </a:r>
            <a:r>
              <a:rPr lang="en-US" b="1" dirty="0">
                <a:ln w="0">
                  <a:solidFill>
                    <a:schemeClr val="tx1"/>
                  </a:solidFill>
                </a:ln>
                <a:solidFill>
                  <a:schemeClr val="accent1">
                    <a:lumMod val="40000"/>
                    <a:lumOff val="60000"/>
                  </a:schemeClr>
                </a:solidFill>
              </a:rPr>
              <a:t>, with employees aged </a:t>
            </a:r>
            <a:r>
              <a:rPr lang="en-US" b="1" dirty="0">
                <a:ln w="0">
                  <a:solidFill>
                    <a:schemeClr val="tx1"/>
                  </a:solidFill>
                </a:ln>
                <a:solidFill>
                  <a:schemeClr val="bg1"/>
                </a:solidFill>
              </a:rPr>
              <a:t>26-35</a:t>
            </a:r>
            <a:r>
              <a:rPr lang="en-US" b="1" dirty="0">
                <a:ln w="0">
                  <a:solidFill>
                    <a:schemeClr val="tx1"/>
                  </a:solidFill>
                </a:ln>
                <a:solidFill>
                  <a:schemeClr val="accent1">
                    <a:lumMod val="40000"/>
                    <a:lumOff val="60000"/>
                  </a:schemeClr>
                </a:solidFill>
              </a:rPr>
              <a:t> seeing the highest turnover, notably in </a:t>
            </a:r>
            <a:r>
              <a:rPr lang="en-US" b="1" dirty="0">
                <a:ln w="0">
                  <a:solidFill>
                    <a:schemeClr val="tx1"/>
                  </a:solidFill>
                </a:ln>
                <a:solidFill>
                  <a:schemeClr val="bg1"/>
                </a:solidFill>
              </a:rPr>
              <a:t>Sales</a:t>
            </a:r>
            <a:r>
              <a:rPr lang="en-US" b="1" dirty="0">
                <a:ln w="0">
                  <a:solidFill>
                    <a:schemeClr val="tx1"/>
                  </a:solidFill>
                </a:ln>
                <a:solidFill>
                  <a:schemeClr val="accent1">
                    <a:lumMod val="40000"/>
                    <a:lumOff val="60000"/>
                  </a:schemeClr>
                </a:solidFill>
              </a:rPr>
              <a:t> and </a:t>
            </a:r>
            <a:r>
              <a:rPr lang="en-US" b="1" dirty="0">
                <a:ln w="0">
                  <a:solidFill>
                    <a:schemeClr val="tx1"/>
                  </a:solidFill>
                </a:ln>
                <a:solidFill>
                  <a:schemeClr val="bg1"/>
                </a:solidFill>
              </a:rPr>
              <a:t>Laboratory</a:t>
            </a:r>
            <a:r>
              <a:rPr lang="en-US" b="1" dirty="0">
                <a:ln w="0">
                  <a:solidFill>
                    <a:schemeClr val="tx1"/>
                  </a:solidFill>
                </a:ln>
                <a:solidFill>
                  <a:schemeClr val="accent1">
                    <a:lumMod val="40000"/>
                    <a:lumOff val="60000"/>
                  </a:schemeClr>
                </a:solidFill>
              </a:rPr>
              <a:t> </a:t>
            </a:r>
            <a:r>
              <a:rPr lang="en-US" b="1" dirty="0">
                <a:ln w="0">
                  <a:solidFill>
                    <a:schemeClr val="tx1"/>
                  </a:solidFill>
                </a:ln>
                <a:solidFill>
                  <a:schemeClr val="bg1"/>
                </a:solidFill>
              </a:rPr>
              <a:t>Technician</a:t>
            </a:r>
            <a:r>
              <a:rPr lang="en-US" b="1" dirty="0">
                <a:ln w="0">
                  <a:solidFill>
                    <a:schemeClr val="tx1"/>
                  </a:solidFill>
                </a:ln>
                <a:solidFill>
                  <a:schemeClr val="accent1">
                    <a:lumMod val="40000"/>
                    <a:lumOff val="60000"/>
                  </a:schemeClr>
                </a:solidFill>
              </a:rPr>
              <a:t> jobs. Employees with lesser pay, frequent overtime, and shorter tenure are more likely to depart. </a:t>
            </a:r>
          </a:p>
          <a:p>
            <a:pPr algn="l"/>
            <a:r>
              <a:rPr lang="en-US" b="1" dirty="0">
                <a:ln w="0">
                  <a:solidFill>
                    <a:schemeClr val="tx1"/>
                  </a:solidFill>
                </a:ln>
                <a:solidFill>
                  <a:schemeClr val="accent1">
                    <a:lumMod val="40000"/>
                    <a:lumOff val="60000"/>
                  </a:schemeClr>
                </a:solidFill>
              </a:rPr>
              <a:t>Single employees exhibit higher attrition than married employees, although job satisfaction and work-life balance have a significant influence on retention. These insights assist HR in identifying high-risk employee categories and implementing focused efforts to increase engagement, lower attrition, and boost workforce stability.</a:t>
            </a:r>
          </a:p>
        </p:txBody>
      </p:sp>
      <p:sp>
        <p:nvSpPr>
          <p:cNvPr id="2" name="Title 1">
            <a:extLst>
              <a:ext uri="{FF2B5EF4-FFF2-40B4-BE49-F238E27FC236}">
                <a16:creationId xmlns:a16="http://schemas.microsoft.com/office/drawing/2014/main" id="{6A1F241E-7230-6275-BE71-B02B3D36597A}"/>
              </a:ext>
            </a:extLst>
          </p:cNvPr>
          <p:cNvSpPr txBox="1">
            <a:spLocks/>
          </p:cNvSpPr>
          <p:nvPr/>
        </p:nvSpPr>
        <p:spPr>
          <a:xfrm>
            <a:off x="1130767" y="947057"/>
            <a:ext cx="10232364" cy="743631"/>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KEY INSIGHTS</a:t>
            </a:r>
          </a:p>
        </p:txBody>
      </p:sp>
      <p:pic>
        <p:nvPicPr>
          <p:cNvPr id="3" name="Graphic 2" descr="Lights On with solid fill">
            <a:extLst>
              <a:ext uri="{FF2B5EF4-FFF2-40B4-BE49-F238E27FC236}">
                <a16:creationId xmlns:a16="http://schemas.microsoft.com/office/drawing/2014/main" id="{5EE60628-993A-CC4A-B96D-6D64B3EBEF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7036" y="819245"/>
            <a:ext cx="914400" cy="914400"/>
          </a:xfrm>
          <a:prstGeom prst="rect">
            <a:avLst/>
          </a:prstGeom>
        </p:spPr>
      </p:pic>
      <p:pic>
        <p:nvPicPr>
          <p:cNvPr id="6" name="Picture 5">
            <a:extLst>
              <a:ext uri="{FF2B5EF4-FFF2-40B4-BE49-F238E27FC236}">
                <a16:creationId xmlns:a16="http://schemas.microsoft.com/office/drawing/2014/main" id="{1340595E-3F90-4BDD-BC3E-CB08729EF41E}"/>
              </a:ext>
            </a:extLst>
          </p:cNvPr>
          <p:cNvPicPr>
            <a:picLocks noChangeAspect="1"/>
          </p:cNvPicPr>
          <p:nvPr/>
        </p:nvPicPr>
        <p:blipFill>
          <a:blip r:embed="rId6"/>
          <a:stretch>
            <a:fillRect/>
          </a:stretch>
        </p:blipFill>
        <p:spPr>
          <a:xfrm>
            <a:off x="9517224" y="5229426"/>
            <a:ext cx="2681126" cy="1628574"/>
          </a:xfrm>
          <a:prstGeom prst="rect">
            <a:avLst/>
          </a:prstGeom>
        </p:spPr>
      </p:pic>
    </p:spTree>
    <p:extLst>
      <p:ext uri="{BB962C8B-B14F-4D97-AF65-F5344CB8AC3E}">
        <p14:creationId xmlns:p14="http://schemas.microsoft.com/office/powerpoint/2010/main" val="205472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635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8">
            <a:extLst>
              <a:ext uri="{FF2B5EF4-FFF2-40B4-BE49-F238E27FC236}">
                <a16:creationId xmlns:a16="http://schemas.microsoft.com/office/drawing/2014/main" id="{2C1137DD-E79D-8AF3-8308-F0079F55C78D}"/>
              </a:ext>
            </a:extLst>
          </p:cNvPr>
          <p:cNvPicPr>
            <a:picLocks noChangeAspect="1"/>
          </p:cNvPicPr>
          <p:nvPr/>
        </p:nvPicPr>
        <p:blipFill>
          <a:blip r:embed="rId3"/>
          <a:stretch>
            <a:fillRect/>
          </a:stretch>
        </p:blipFill>
        <p:spPr>
          <a:xfrm>
            <a:off x="6350" y="0"/>
            <a:ext cx="12192000" cy="397058"/>
          </a:xfrm>
          <a:prstGeom prst="rect">
            <a:avLst/>
          </a:prstGeom>
          <a:solidFill>
            <a:schemeClr val="bg1"/>
          </a:solidFill>
        </p:spPr>
      </p:pic>
      <p:sp>
        <p:nvSpPr>
          <p:cNvPr id="14" name="Content Placeholder 2">
            <a:extLst>
              <a:ext uri="{FF2B5EF4-FFF2-40B4-BE49-F238E27FC236}">
                <a16:creationId xmlns:a16="http://schemas.microsoft.com/office/drawing/2014/main" id="{913A44CE-24E9-1D2E-CE9D-325679B7B51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ln w="0">
                  <a:solidFill>
                    <a:schemeClr val="tx1"/>
                  </a:solidFill>
                </a:ln>
                <a:solidFill>
                  <a:schemeClr val="accent1">
                    <a:lumMod val="40000"/>
                    <a:lumOff val="60000"/>
                  </a:schemeClr>
                </a:solidFill>
              </a:rPr>
              <a:t>By displaying important variables including age, department, job function, pay, education, and years of service, the HR Attrition Dashboard offers insightful information about employee turnover. The study shows trends that may be used to pinpoint high-risk employee demographics and the main causes of attrition. In the end, these insights lower attrition and promote long-term organizational development and productivity by empowering HR teams to make data-driven choices, boost employee engagement, improve retention tactics, and optimize workforce planning.</a:t>
            </a:r>
          </a:p>
        </p:txBody>
      </p:sp>
      <p:sp>
        <p:nvSpPr>
          <p:cNvPr id="5" name="Title 1">
            <a:extLst>
              <a:ext uri="{FF2B5EF4-FFF2-40B4-BE49-F238E27FC236}">
                <a16:creationId xmlns:a16="http://schemas.microsoft.com/office/drawing/2014/main" id="{B91D23AB-C632-752C-EB7E-AD51BE5119DD}"/>
              </a:ext>
            </a:extLst>
          </p:cNvPr>
          <p:cNvSpPr txBox="1">
            <a:spLocks/>
          </p:cNvSpPr>
          <p:nvPr/>
        </p:nvSpPr>
        <p:spPr>
          <a:xfrm>
            <a:off x="1158816" y="922564"/>
            <a:ext cx="10194984" cy="768124"/>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5000" b="1" u="sng"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CONCLUSION</a:t>
            </a:r>
          </a:p>
        </p:txBody>
      </p:sp>
      <p:pic>
        <p:nvPicPr>
          <p:cNvPr id="6" name="Graphic 5" descr="Postit Notes with solid fill">
            <a:extLst>
              <a:ext uri="{FF2B5EF4-FFF2-40B4-BE49-F238E27FC236}">
                <a16:creationId xmlns:a16="http://schemas.microsoft.com/office/drawing/2014/main" id="{19403E30-F193-96CD-1D7B-C7DF1F5D34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4416" y="822236"/>
            <a:ext cx="914400" cy="914400"/>
          </a:xfrm>
          <a:prstGeom prst="rect">
            <a:avLst/>
          </a:prstGeom>
        </p:spPr>
      </p:pic>
      <p:pic>
        <p:nvPicPr>
          <p:cNvPr id="3" name="Picture 2">
            <a:extLst>
              <a:ext uri="{FF2B5EF4-FFF2-40B4-BE49-F238E27FC236}">
                <a16:creationId xmlns:a16="http://schemas.microsoft.com/office/drawing/2014/main" id="{09DBBBA6-3E3E-A650-6C19-56AEA6CE0861}"/>
              </a:ext>
            </a:extLst>
          </p:cNvPr>
          <p:cNvPicPr>
            <a:picLocks noChangeAspect="1"/>
          </p:cNvPicPr>
          <p:nvPr/>
        </p:nvPicPr>
        <p:blipFill>
          <a:blip r:embed="rId6"/>
          <a:stretch>
            <a:fillRect/>
          </a:stretch>
        </p:blipFill>
        <p:spPr>
          <a:xfrm>
            <a:off x="9517224" y="5229426"/>
            <a:ext cx="2681126" cy="1628574"/>
          </a:xfrm>
          <a:prstGeom prst="rect">
            <a:avLst/>
          </a:prstGeom>
        </p:spPr>
      </p:pic>
    </p:spTree>
    <p:extLst>
      <p:ext uri="{BB962C8B-B14F-4D97-AF65-F5344CB8AC3E}">
        <p14:creationId xmlns:p14="http://schemas.microsoft.com/office/powerpoint/2010/main" val="2283848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Technologie RH : transformez la gestion de vos talents">
            <a:extLst>
              <a:ext uri="{FF2B5EF4-FFF2-40B4-BE49-F238E27FC236}">
                <a16:creationId xmlns:a16="http://schemas.microsoft.com/office/drawing/2014/main" id="{C1FED009-7334-24E3-37EE-327257926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85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C00027-28BB-65E2-28B4-9BA39F0881A3}"/>
              </a:ext>
            </a:extLst>
          </p:cNvPr>
          <p:cNvSpPr/>
          <p:nvPr/>
        </p:nvSpPr>
        <p:spPr>
          <a:xfrm>
            <a:off x="6350" y="0"/>
            <a:ext cx="12192000" cy="6858000"/>
          </a:xfrm>
          <a:prstGeom prst="rect">
            <a:avLst/>
          </a:prstGeom>
          <a:solidFill>
            <a:schemeClr val="tx1">
              <a:alpha val="8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C6B0EBCB-1580-1D6B-93CA-6B035BEEFBE1}"/>
              </a:ext>
            </a:extLst>
          </p:cNvPr>
          <p:cNvSpPr txBox="1">
            <a:spLocks/>
          </p:cNvSpPr>
          <p:nvPr/>
        </p:nvSpPr>
        <p:spPr>
          <a:xfrm>
            <a:off x="838200" y="3221199"/>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7200" b="1" dirty="0">
                <a:solidFill>
                  <a:schemeClr val="bg1"/>
                </a:solidFill>
                <a:effectLst>
                  <a:outerShdw blurRad="38100" dist="38100" dir="2700000" algn="tl">
                    <a:srgbClr val="000000">
                      <a:alpha val="43137"/>
                    </a:srgbClr>
                  </a:outerShdw>
                </a:effectLst>
                <a:latin typeface="+mn-lt"/>
                <a:ea typeface="Adobe Gothic Std B" panose="020B0800000000000000" pitchFamily="34" charset="-128"/>
              </a:rPr>
              <a:t>THANK YOU</a:t>
            </a:r>
          </a:p>
        </p:txBody>
      </p:sp>
      <p:pic>
        <p:nvPicPr>
          <p:cNvPr id="3" name="Picture 2">
            <a:extLst>
              <a:ext uri="{FF2B5EF4-FFF2-40B4-BE49-F238E27FC236}">
                <a16:creationId xmlns:a16="http://schemas.microsoft.com/office/drawing/2014/main" id="{5180E38D-78F8-22E2-1938-92374A7D3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7213" y="1487454"/>
            <a:ext cx="2110273" cy="2110273"/>
          </a:xfrm>
          <a:prstGeom prst="rect">
            <a:avLst/>
          </a:prstGeom>
        </p:spPr>
      </p:pic>
    </p:spTree>
    <p:extLst>
      <p:ext uri="{BB962C8B-B14F-4D97-AF65-F5344CB8AC3E}">
        <p14:creationId xmlns:p14="http://schemas.microsoft.com/office/powerpoint/2010/main" val="11703914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342</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Adobe Gothic Std B</vt: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rishabh Kumar</dc:creator>
  <cp:lastModifiedBy>rishabh Kumar</cp:lastModifiedBy>
  <cp:revision>11</cp:revision>
  <dcterms:created xsi:type="dcterms:W3CDTF">2026-07-06T07:15:37Z</dcterms:created>
  <dcterms:modified xsi:type="dcterms:W3CDTF">2026-07-07T10:51:18Z</dcterms:modified>
</cp:coreProperties>
</file>