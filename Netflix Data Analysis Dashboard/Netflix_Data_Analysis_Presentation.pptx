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7" r:id="rId11"/>
    <p:sldId id="266" r:id="rId12"/>
    <p:sldId id="26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2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9197E-4E75-E58E-438C-090610AAFA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E28B53-0138-C32C-48D5-3AB1E7E840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40475C-DECF-23D9-9993-DDABDFECF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C5BB34-16CA-4CA0-B0F9-5FD5D3DE2CF7}" type="datetimeFigureOut">
              <a:rPr lang="en-IN" smtClean="0"/>
              <a:t>06-07-2026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2D80D-7E75-0755-9525-9D4BE7BF8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76222D-D088-6F4B-E3F2-2B0E5A069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6B6FC-6C2A-4E3B-8A08-6901274BC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9058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E58D8-D645-CC3C-6A0F-0F6F446F7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3EE140-D8D7-DA3E-E162-B97553C79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D23E2E-5397-5C85-6E3E-24877CDB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C5BB34-16CA-4CA0-B0F9-5FD5D3DE2CF7}" type="datetimeFigureOut">
              <a:rPr lang="en-IN" smtClean="0"/>
              <a:t>06-07-2026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FEDC9B-7CE3-3F52-9D8B-CEE318FB6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A854EA-2C71-888E-A137-07FDD7757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6B6FC-6C2A-4E3B-8A08-6901274BC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9641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44F83-60AA-E85B-08AE-91EB32BE4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6872DE-E94F-0FBC-A11A-C9CCFE7902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B98DCA-D49B-0564-8666-37E5B933E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C5BB34-16CA-4CA0-B0F9-5FD5D3DE2CF7}" type="datetimeFigureOut">
              <a:rPr lang="en-IN" smtClean="0"/>
              <a:t>06-07-2026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A8B11-1D0B-189E-F7AB-A33D32C74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02A359-BCA1-EC22-060D-54E77220A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6B6FC-6C2A-4E3B-8A08-6901274BC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14196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EDD34-706F-927C-1013-8F31C1D42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53113-B68D-FC19-9CB4-332C1000AA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BDF834-FC74-80BF-1D9B-DE42DAB475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A4E48B-4B11-2554-F548-77B28A75A1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C5BB34-16CA-4CA0-B0F9-5FD5D3DE2CF7}" type="datetimeFigureOut">
              <a:rPr lang="en-IN" smtClean="0"/>
              <a:t>06-07-2026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BEA17D-D2D7-BBA6-AE8D-75B40B1A7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633CA0-F157-C358-41D4-052ACBB69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6B6FC-6C2A-4E3B-8A08-6901274BC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3274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EFFED-1F28-87A1-3817-07BA588AD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7810E-BF99-767B-E98A-B774826BFF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A035BD-20C8-F3E5-3390-F046C73947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21A8B3-337D-D0FB-C55D-48DE70605B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4EAEB0-342A-22D1-1D80-4D01CE7F45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EB17C9-0DA3-4770-B716-6DB4AEF7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C5BB34-16CA-4CA0-B0F9-5FD5D3DE2CF7}" type="datetimeFigureOut">
              <a:rPr lang="en-IN" smtClean="0"/>
              <a:t>06-07-2026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96F437-FE9C-CFF0-3BC7-E3B819EA0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883150-2584-E5EE-6550-F2D07FE0D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6B6FC-6C2A-4E3B-8A08-6901274BC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0246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43D91-425B-79F2-E204-9F0C8824B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694791-D240-EF13-6247-F44C6232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C5BB34-16CA-4CA0-B0F9-5FD5D3DE2CF7}" type="datetimeFigureOut">
              <a:rPr lang="en-IN" smtClean="0"/>
              <a:t>06-07-2026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2CAB8E-0CD6-5FF3-C858-6857F2E34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D73314-BE3D-9308-DA32-223A7B982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6B6FC-6C2A-4E3B-8A08-6901274BC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72929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837F39-64AC-7BDC-39A0-BE12E79FB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C5BB34-16CA-4CA0-B0F9-5FD5D3DE2CF7}" type="datetimeFigureOut">
              <a:rPr lang="en-IN" smtClean="0"/>
              <a:t>06-07-2026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359E21-FF4B-76EA-47E1-699888AE7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ECCFD2-1C95-8539-EABB-721131ADF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6B6FC-6C2A-4E3B-8A08-6901274BC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3741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3B14E-36D3-A687-8BE0-50640E65F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98389-9EC8-850A-C25A-DA6549A406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6201D0-35D6-429E-83C8-908660521E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B7E65F-9EE7-D800-4460-33E2E3F12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C5BB34-16CA-4CA0-B0F9-5FD5D3DE2CF7}" type="datetimeFigureOut">
              <a:rPr lang="en-IN" smtClean="0"/>
              <a:t>06-07-2026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CF57C7-0B4E-D3CA-056D-0FEC32D87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0A7AA5-3EDE-7879-94EE-DA3F3FE09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6B6FC-6C2A-4E3B-8A08-6901274BC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84470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5870B-2944-87C5-1630-167823CEA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FD2425-144B-9D8C-A651-A31C365EF9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8277A-E0DE-A393-D4DA-9892825558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21CB82-D8E9-2285-FCB8-80E19CA0B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C5BB34-16CA-4CA0-B0F9-5FD5D3DE2CF7}" type="datetimeFigureOut">
              <a:rPr lang="en-IN" smtClean="0"/>
              <a:t>06-07-2026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E3677A-B86B-964A-8083-50DD8DCFA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1BBCC6-D980-2E56-3172-2F88393D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6B6FC-6C2A-4E3B-8A08-6901274BC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99624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9259A-DDC0-24A5-F94F-521B59039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FB7302-0D6D-3219-B492-193188BC3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6E65C-E4BF-3D9D-541B-B5133F996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C5BB34-16CA-4CA0-B0F9-5FD5D3DE2CF7}" type="datetimeFigureOut">
              <a:rPr lang="en-IN" smtClean="0"/>
              <a:t>06-07-2026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B83EDD-0312-8770-5D8F-14AEF232B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238DAE-A83C-20C9-318D-CF3F90949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6B6FC-6C2A-4E3B-8A08-6901274BC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418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86E063-5DC1-5DD3-99BA-1864EAA4DB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F01BE3-357A-39EE-F831-165F958E99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1750B4-F3B1-2C9C-9350-0C8F4008C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C5BB34-16CA-4CA0-B0F9-5FD5D3DE2CF7}" type="datetimeFigureOut">
              <a:rPr lang="en-IN" smtClean="0"/>
              <a:t>06-07-2026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42035F-2D4B-C2FF-E609-C3CEEFBD5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F876F3-32C1-961F-17A7-4D3F3A264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6B6FC-6C2A-4E3B-8A08-6901274BC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3569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2EA56F-FA56-CD70-7819-E46EC8620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A620CB-62A6-94B6-20A9-B6811DB0FE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A722EB-C61E-5571-C190-CC67678BA0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C5BB34-16CA-4CA0-B0F9-5FD5D3DE2CF7}" type="datetimeFigureOut">
              <a:rPr lang="en-IN" smtClean="0"/>
              <a:t>06-07-2026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50A36E-B350-413E-2FC1-F2A0EF2904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DDA17-AE7D-5FAC-E5B4-EF2BCFDC7A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36B6FC-6C2A-4E3B-8A08-6901274BC2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8474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freepngimg.com/png/26808-excel-transparent-image" TargetMode="Externa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luciamonterorodriguez.com/conoce-que-te-ofrece-microsoft-power-bi/" TargetMode="Externa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3.png"/><Relationship Id="rId7" Type="http://schemas.openxmlformats.org/officeDocument/2006/relationships/hyperlink" Target="https://abouthydrology.blogspot.com/2016/11/python-resources-for-hydrologists.html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jpe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3.png"/><Relationship Id="rId7" Type="http://schemas.openxmlformats.org/officeDocument/2006/relationships/hyperlink" Target="https://abouthydrology.blogspot.com/2016/11/python-resources-for-hydrologists.html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jpe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gif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1CF7DA1-3CBA-68AB-C13D-875EEE6B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56BFE95-C6AB-9193-90F2-C2796E940B8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8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0862DE-8D77-FCFB-3837-8BB83E8484A5}"/>
              </a:ext>
            </a:extLst>
          </p:cNvPr>
          <p:cNvSpPr txBox="1"/>
          <p:nvPr/>
        </p:nvSpPr>
        <p:spPr>
          <a:xfrm>
            <a:off x="3098800" y="2778492"/>
            <a:ext cx="87122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5000" b="1" dirty="0">
                <a:solidFill>
                  <a:srgbClr val="C00000"/>
                </a:solidFill>
                <a:ea typeface="Adobe Gothic Std B" panose="020B0800000000000000" pitchFamily="34" charset="-128"/>
              </a:rPr>
              <a:t>NETFLIX </a:t>
            </a:r>
            <a:r>
              <a:rPr lang="en-IN" sz="5000" b="1" dirty="0">
                <a:solidFill>
                  <a:schemeClr val="bg1"/>
                </a:solidFill>
                <a:ea typeface="Adobe Gothic Std B" panose="020B0800000000000000" pitchFamily="34" charset="-128"/>
              </a:rPr>
              <a:t>DATA ANALYTICS PROJECT PRESENTATION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A148397-BC60-9601-CACE-F0E3C8C7C8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0" y="2780136"/>
            <a:ext cx="1536700" cy="15367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437A551-D986-D66B-B182-C7223289C551}"/>
              </a:ext>
            </a:extLst>
          </p:cNvPr>
          <p:cNvSpPr txBox="1"/>
          <p:nvPr/>
        </p:nvSpPr>
        <p:spPr>
          <a:xfrm>
            <a:off x="8623300" y="5726880"/>
            <a:ext cx="3568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u="sng" dirty="0">
                <a:solidFill>
                  <a:srgbClr val="C00000"/>
                </a:solidFill>
                <a:ea typeface="Adobe Gothic Std B" panose="020B0800000000000000" pitchFamily="34" charset="-128"/>
              </a:rPr>
              <a:t>PRESENTED BY:</a:t>
            </a:r>
          </a:p>
          <a:p>
            <a:r>
              <a:rPr lang="en-IN" sz="3200" b="1" dirty="0">
                <a:solidFill>
                  <a:schemeClr val="bg1"/>
                </a:solidFill>
                <a:ea typeface="Adobe Gothic Std B" panose="020B0800000000000000" pitchFamily="34" charset="-128"/>
              </a:rPr>
              <a:t>RISHABH KUMAR</a:t>
            </a:r>
          </a:p>
        </p:txBody>
      </p:sp>
    </p:spTree>
    <p:extLst>
      <p:ext uri="{BB962C8B-B14F-4D97-AF65-F5344CB8AC3E}">
        <p14:creationId xmlns:p14="http://schemas.microsoft.com/office/powerpoint/2010/main" val="2223533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1CF7DA1-3CBA-68AB-C13D-875EEE6B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56BFE95-C6AB-9193-90F2-C2796E940B8F}"/>
              </a:ext>
            </a:extLst>
          </p:cNvPr>
          <p:cNvSpPr/>
          <p:nvPr/>
        </p:nvSpPr>
        <p:spPr>
          <a:xfrm>
            <a:off x="-24882" y="0"/>
            <a:ext cx="12192000" cy="6858000"/>
          </a:xfrm>
          <a:prstGeom prst="rect">
            <a:avLst/>
          </a:prstGeom>
          <a:solidFill>
            <a:schemeClr val="tx1">
              <a:alpha val="8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BFEA58-E607-1DE6-592F-6C5239777DC5}"/>
              </a:ext>
            </a:extLst>
          </p:cNvPr>
          <p:cNvSpPr txBox="1">
            <a:spLocks/>
          </p:cNvSpPr>
          <p:nvPr/>
        </p:nvSpPr>
        <p:spPr>
          <a:xfrm>
            <a:off x="1477736" y="681037"/>
            <a:ext cx="9876064" cy="100965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N" sz="50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Adobe Gothic Std B" panose="020B0800000000000000" pitchFamily="34" charset="-128"/>
              </a:rPr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0ACEA-015B-D1BB-43E9-89066DBF372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Summary of Project.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KPI List.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EXCEL Dashboard.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POWER BI Dashboard.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Tableau Dashboard.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Python Queries.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Conclusion.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Key Insights.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D8B9F1-8C72-294D-C681-9B8419890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065000" cy="562708"/>
          </a:xfrm>
          <a:prstGeom prst="rect">
            <a:avLst/>
          </a:prstGeom>
        </p:spPr>
      </p:pic>
      <p:pic>
        <p:nvPicPr>
          <p:cNvPr id="4" name="Graphic 3" descr="Table with solid fill">
            <a:extLst>
              <a:ext uri="{FF2B5EF4-FFF2-40B4-BE49-F238E27FC236}">
                <a16:creationId xmlns:a16="http://schemas.microsoft.com/office/drawing/2014/main" id="{47CA7A39-52E9-3BF2-61FF-BEA62055BE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2226" y="751899"/>
            <a:ext cx="1080938" cy="10809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B21F3B4-3EDC-2B42-6951-4C7D5096E1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1021" y="562708"/>
            <a:ext cx="722243" cy="1378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21530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1CF7DA1-3CBA-68AB-C13D-875EEE6B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56BFE95-C6AB-9193-90F2-C2796E940B8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8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BFEA58-E607-1DE6-592F-6C5239777DC5}"/>
              </a:ext>
            </a:extLst>
          </p:cNvPr>
          <p:cNvSpPr txBox="1">
            <a:spLocks/>
          </p:cNvSpPr>
          <p:nvPr/>
        </p:nvSpPr>
        <p:spPr>
          <a:xfrm>
            <a:off x="1224644" y="715108"/>
            <a:ext cx="10129156" cy="97558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N" sz="50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Adobe Gothic Std B" panose="020B0800000000000000" pitchFamily="34" charset="-128"/>
              </a:rPr>
              <a:t>SUMMARY OF THE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0ACEA-015B-D1BB-43E9-89066DBF372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IN" b="1" dirty="0">
              <a:ln w="0">
                <a:solidFill>
                  <a:schemeClr val="tx1"/>
                </a:solidFill>
              </a:ln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D8B9F1-8C72-294D-C681-9B8419890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065000" cy="562708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5E644AD-4F6D-7A89-A380-3B27710045BD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This research examines the Netflix dataset to identify patterns in content distribution, genres, ratings, release dates, and country-specific availability. </a:t>
            </a:r>
          </a:p>
          <a:p>
            <a:pPr algn="l"/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The analysis uses </a:t>
            </a: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Excel</a:t>
            </a: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, </a:t>
            </a: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Python</a:t>
            </a: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, </a:t>
            </a: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Tableau</a:t>
            </a: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 and </a:t>
            </a: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Power</a:t>
            </a: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 </a:t>
            </a: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BI</a:t>
            </a: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 to turn raw data into interactive dashboards and actionable insights, allowing for data-driven decision-making and showcasing practical abilities in data cleansing, visualization, and business analysis.</a:t>
            </a:r>
          </a:p>
        </p:txBody>
      </p:sp>
      <p:pic>
        <p:nvPicPr>
          <p:cNvPr id="6" name="Graphic 5" descr="Typewriter with solid fill">
            <a:extLst>
              <a:ext uri="{FF2B5EF4-FFF2-40B4-BE49-F238E27FC236}">
                <a16:creationId xmlns:a16="http://schemas.microsoft.com/office/drawing/2014/main" id="{57B5F92D-4ACF-A675-3DE7-6A0EFCB77E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2206" y="776288"/>
            <a:ext cx="914400" cy="914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1F3B4-3EDC-2B42-6951-4C7D5096E1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2864" y="532329"/>
            <a:ext cx="722243" cy="1378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292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1CF7DA1-3CBA-68AB-C13D-875EEE6B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56BFE95-C6AB-9193-90F2-C2796E940B8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8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BFEA58-E607-1DE6-592F-6C5239777DC5}"/>
              </a:ext>
            </a:extLst>
          </p:cNvPr>
          <p:cNvSpPr txBox="1">
            <a:spLocks/>
          </p:cNvSpPr>
          <p:nvPr/>
        </p:nvSpPr>
        <p:spPr>
          <a:xfrm>
            <a:off x="1330778" y="816429"/>
            <a:ext cx="10023021" cy="87425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N" sz="50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Adobe Gothic Std B" panose="020B0800000000000000" pitchFamily="34" charset="-128"/>
              </a:rPr>
              <a:t>KPI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0ACEA-015B-D1BB-43E9-89066DBF372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IN" b="1" dirty="0">
              <a:ln w="0">
                <a:solidFill>
                  <a:schemeClr val="tx1"/>
                </a:solidFill>
              </a:ln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D8B9F1-8C72-294D-C681-9B8419890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065000" cy="562708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5E644AD-4F6D-7A89-A380-3B27710045BD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Total Titles.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Total locations.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Total Genre.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Total Ratings.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Total Directors.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Movies vs TV Shows.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Content By Countries</a:t>
            </a:r>
          </a:p>
        </p:txBody>
      </p:sp>
      <p:pic>
        <p:nvPicPr>
          <p:cNvPr id="6" name="Graphic 5" descr="Credit card with solid fill">
            <a:extLst>
              <a:ext uri="{FF2B5EF4-FFF2-40B4-BE49-F238E27FC236}">
                <a16:creationId xmlns:a16="http://schemas.microsoft.com/office/drawing/2014/main" id="{A4FFAA22-BC38-DC3E-0DD1-AADA7FB1CC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4309" y="812928"/>
            <a:ext cx="914400" cy="914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1F3B4-3EDC-2B42-6951-4C7D5096E1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4821" y="550649"/>
            <a:ext cx="722243" cy="1378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582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1CF7DA1-3CBA-68AB-C13D-875EEE6B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56BFE95-C6AB-9193-90F2-C2796E940B8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8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BFEA58-E607-1DE6-592F-6C5239777DC5}"/>
              </a:ext>
            </a:extLst>
          </p:cNvPr>
          <p:cNvSpPr txBox="1">
            <a:spLocks/>
          </p:cNvSpPr>
          <p:nvPr/>
        </p:nvSpPr>
        <p:spPr>
          <a:xfrm>
            <a:off x="1249136" y="952393"/>
            <a:ext cx="10104663" cy="738295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N" sz="50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Adobe Gothic Std B" panose="020B0800000000000000" pitchFamily="34" charset="-128"/>
              </a:rPr>
              <a:t>EXCEL 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0ACEA-015B-D1BB-43E9-89066DBF372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IN" b="1" dirty="0">
              <a:ln w="0">
                <a:solidFill>
                  <a:schemeClr val="tx1"/>
                </a:solidFill>
              </a:ln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D8B9F1-8C72-294D-C681-9B8419890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065000" cy="5627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7E0BE0E-5FC5-2D92-7D87-E601FAB1B2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1760310"/>
            <a:ext cx="9650186" cy="4805425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3BA1BBB-82AD-7BE4-ACF8-1780ED46D55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401333" y="854855"/>
            <a:ext cx="738295" cy="7382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B21F3B4-3EDC-2B42-6951-4C7D5096E1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67856" y="551369"/>
            <a:ext cx="656585" cy="1252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4993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1CF7DA1-3CBA-68AB-C13D-875EEE6B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56BFE95-C6AB-9193-90F2-C2796E940B8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8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BFEA58-E607-1DE6-592F-6C5239777DC5}"/>
              </a:ext>
            </a:extLst>
          </p:cNvPr>
          <p:cNvSpPr txBox="1">
            <a:spLocks/>
          </p:cNvSpPr>
          <p:nvPr/>
        </p:nvSpPr>
        <p:spPr>
          <a:xfrm>
            <a:off x="1085996" y="849086"/>
            <a:ext cx="10267803" cy="84160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N" sz="50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Adobe Gothic Std B" panose="020B0800000000000000" pitchFamily="34" charset="-128"/>
              </a:rPr>
              <a:t>POWER BI 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0ACEA-015B-D1BB-43E9-89066DBF372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IN" b="1" dirty="0">
              <a:ln w="0">
                <a:solidFill>
                  <a:schemeClr val="tx1"/>
                </a:solidFill>
              </a:ln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D8B9F1-8C72-294D-C681-9B8419890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065000" cy="5627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057CE4-536A-F569-3A53-95C34B54A45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997" y="1760308"/>
            <a:ext cx="8589848" cy="4864481"/>
          </a:xfrm>
          <a:prstGeom prst="rect">
            <a:avLst/>
          </a:prstGeom>
          <a:ln w="57150">
            <a:solidFill>
              <a:schemeClr val="bg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DD89C7D-43E7-F8EF-716D-2A52BA370CE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359794" y="956644"/>
            <a:ext cx="612377" cy="6385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84B6711-DBBC-92A2-7B8C-A4EC5662EE5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5105" y="551369"/>
            <a:ext cx="656585" cy="1252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0694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1CF7DA1-3CBA-68AB-C13D-875EEE6B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56BFE95-C6AB-9193-90F2-C2796E940B8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8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BFEA58-E607-1DE6-592F-6C5239777DC5}"/>
              </a:ext>
            </a:extLst>
          </p:cNvPr>
          <p:cNvSpPr txBox="1">
            <a:spLocks/>
          </p:cNvSpPr>
          <p:nvPr/>
        </p:nvSpPr>
        <p:spPr>
          <a:xfrm>
            <a:off x="1387928" y="873579"/>
            <a:ext cx="9965871" cy="81710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N" sz="50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Adobe Gothic Std B" panose="020B0800000000000000" pitchFamily="34" charset="-128"/>
              </a:rPr>
              <a:t>TABLEAU 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0ACEA-015B-D1BB-43E9-89066DBF372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IN" b="1" dirty="0">
              <a:ln w="0">
                <a:solidFill>
                  <a:schemeClr val="tx1"/>
                </a:solidFill>
              </a:ln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D8B9F1-8C72-294D-C681-9B8419890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065000" cy="5627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F01E19C-D8D5-73C6-CD1F-9C08292E4EE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759382"/>
            <a:ext cx="8762423" cy="48047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DF48B50-46CA-9F54-D069-046A5499DA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692" y="881957"/>
            <a:ext cx="1266837" cy="7729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E6C1281-1BA5-AEEF-A341-6860948CEF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25105" y="551369"/>
            <a:ext cx="656585" cy="1252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5489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1CF7DA1-3CBA-68AB-C13D-875EEE6B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56BFE95-C6AB-9193-90F2-C2796E940B8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8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BFEA58-E607-1DE6-592F-6C5239777DC5}"/>
              </a:ext>
            </a:extLst>
          </p:cNvPr>
          <p:cNvSpPr txBox="1">
            <a:spLocks/>
          </p:cNvSpPr>
          <p:nvPr/>
        </p:nvSpPr>
        <p:spPr>
          <a:xfrm>
            <a:off x="1224524" y="947057"/>
            <a:ext cx="10129276" cy="743631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N" sz="50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Adobe Gothic Std B" panose="020B0800000000000000" pitchFamily="34" charset="-128"/>
              </a:rPr>
              <a:t>PYTHON QUERIES (Part 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0ACEA-015B-D1BB-43E9-89066DBF372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IN" b="1" dirty="0">
              <a:ln w="0">
                <a:solidFill>
                  <a:schemeClr val="tx1"/>
                </a:solidFill>
              </a:ln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D8B9F1-8C72-294D-C681-9B8419890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065000" cy="5627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69D0796-8C19-CAB3-9748-5913CA3552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4633" y="1662695"/>
            <a:ext cx="2939047" cy="5111132"/>
          </a:xfrm>
          <a:prstGeom prst="rect">
            <a:avLst/>
          </a:prstGeom>
          <a:ln w="57150"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A6EE85F-35E6-42D8-581F-81FE1F0145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285" y="1623834"/>
            <a:ext cx="3622063" cy="511113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7F0E52E-7A2B-72D9-66DC-5CC753EC8A2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246198" y="834157"/>
            <a:ext cx="862755" cy="862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F93CB64-287B-EA00-AED0-91D54474A72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0907" y="551369"/>
            <a:ext cx="656585" cy="1252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5566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1CF7DA1-3CBA-68AB-C13D-875EEE6B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56BFE95-C6AB-9193-90F2-C2796E940B8F}"/>
              </a:ext>
            </a:extLst>
          </p:cNvPr>
          <p:cNvSpPr/>
          <p:nvPr/>
        </p:nvSpPr>
        <p:spPr>
          <a:xfrm>
            <a:off x="0" y="54753"/>
            <a:ext cx="12192000" cy="6858000"/>
          </a:xfrm>
          <a:prstGeom prst="rect">
            <a:avLst/>
          </a:prstGeom>
          <a:solidFill>
            <a:schemeClr val="tx1">
              <a:alpha val="8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BFEA58-E607-1DE6-592F-6C5239777DC5}"/>
              </a:ext>
            </a:extLst>
          </p:cNvPr>
          <p:cNvSpPr txBox="1">
            <a:spLocks/>
          </p:cNvSpPr>
          <p:nvPr/>
        </p:nvSpPr>
        <p:spPr>
          <a:xfrm>
            <a:off x="1249136" y="928618"/>
            <a:ext cx="10104664" cy="762070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N" sz="50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Adobe Gothic Std B" panose="020B0800000000000000" pitchFamily="34" charset="-128"/>
              </a:rPr>
              <a:t>PYTHON QUERIES (Part 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0ACEA-015B-D1BB-43E9-89066DBF372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IN" b="1" dirty="0">
              <a:ln w="0">
                <a:solidFill>
                  <a:schemeClr val="tx1"/>
                </a:solidFill>
              </a:ln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D8B9F1-8C72-294D-C681-9B8419890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8164"/>
            <a:ext cx="12065000" cy="5627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C3ACA5-1D48-3483-7F26-52E539B65B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82" y="1958671"/>
            <a:ext cx="5520089" cy="452437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43D4521-DDBF-BBCD-AB06-10FB7CBA81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7084" y="2191535"/>
            <a:ext cx="5822057" cy="400245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3937CF1-9C1A-685E-8DE5-9047075F3B8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246198" y="834157"/>
            <a:ext cx="862755" cy="862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E494077-2451-52EB-2A9A-9553B12F84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51729" y="551369"/>
            <a:ext cx="656585" cy="1252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6370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1CF7DA1-3CBA-68AB-C13D-875EEE6B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56BFE95-C6AB-9193-90F2-C2796E940B8F}"/>
              </a:ext>
            </a:extLst>
          </p:cNvPr>
          <p:cNvSpPr/>
          <p:nvPr/>
        </p:nvSpPr>
        <p:spPr>
          <a:xfrm>
            <a:off x="0" y="54753"/>
            <a:ext cx="12192000" cy="6858000"/>
          </a:xfrm>
          <a:prstGeom prst="rect">
            <a:avLst/>
          </a:prstGeom>
          <a:solidFill>
            <a:schemeClr val="tx1">
              <a:alpha val="8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BFEA58-E607-1DE6-592F-6C5239777DC5}"/>
              </a:ext>
            </a:extLst>
          </p:cNvPr>
          <p:cNvSpPr txBox="1">
            <a:spLocks/>
          </p:cNvSpPr>
          <p:nvPr/>
        </p:nvSpPr>
        <p:spPr>
          <a:xfrm>
            <a:off x="1121436" y="947057"/>
            <a:ext cx="10232364" cy="743631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N" sz="50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Adobe Gothic Std B" panose="020B0800000000000000" pitchFamily="34" charset="-128"/>
              </a:rPr>
              <a:t>KEY INSIGHTS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0ACEA-015B-D1BB-43E9-89066DBF372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IN" b="1" dirty="0">
              <a:ln w="0">
                <a:solidFill>
                  <a:schemeClr val="tx1"/>
                </a:solidFill>
              </a:ln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D8B9F1-8C72-294D-C681-9B8419890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8164"/>
            <a:ext cx="12065000" cy="56270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33AB2D0-F0E8-6885-FE69-CB1B1DA35B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1714" y="551369"/>
            <a:ext cx="656585" cy="1252935"/>
          </a:xfrm>
          <a:prstGeom prst="rect">
            <a:avLst/>
          </a:prstGeom>
        </p:spPr>
      </p:pic>
      <p:pic>
        <p:nvPicPr>
          <p:cNvPr id="6" name="Graphic 5" descr="Lights On with solid fill">
            <a:extLst>
              <a:ext uri="{FF2B5EF4-FFF2-40B4-BE49-F238E27FC236}">
                <a16:creationId xmlns:a16="http://schemas.microsoft.com/office/drawing/2014/main" id="{46A32F36-7AEF-14E3-83D8-AA34E3C6E76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7036" y="819245"/>
            <a:ext cx="914400" cy="914400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6CDF97A-1E86-5400-33CC-247600E11FF3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The research suggests that movies outweigh </a:t>
            </a: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TV shows </a:t>
            </a: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on Netflix, with the </a:t>
            </a: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United States </a:t>
            </a: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producing the most material. Drama and international genres dominate the platform, and content development has increased dramatically since </a:t>
            </a: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2015</a:t>
            </a: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. The majority of titles are aimed at older audiences, demonstrating Netflix's commitment to varied, internationally accessible entertainment.</a:t>
            </a:r>
          </a:p>
        </p:txBody>
      </p:sp>
    </p:spTree>
    <p:extLst>
      <p:ext uri="{BB962C8B-B14F-4D97-AF65-F5344CB8AC3E}">
        <p14:creationId xmlns:p14="http://schemas.microsoft.com/office/powerpoint/2010/main" val="10574955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1CF7DA1-3CBA-68AB-C13D-875EEE6B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56BFE95-C6AB-9193-90F2-C2796E940B8F}"/>
              </a:ext>
            </a:extLst>
          </p:cNvPr>
          <p:cNvSpPr/>
          <p:nvPr/>
        </p:nvSpPr>
        <p:spPr>
          <a:xfrm>
            <a:off x="0" y="54753"/>
            <a:ext cx="12192000" cy="6858000"/>
          </a:xfrm>
          <a:prstGeom prst="rect">
            <a:avLst/>
          </a:prstGeom>
          <a:solidFill>
            <a:schemeClr val="tx1">
              <a:alpha val="8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BFEA58-E607-1DE6-592F-6C5239777DC5}"/>
              </a:ext>
            </a:extLst>
          </p:cNvPr>
          <p:cNvSpPr txBox="1">
            <a:spLocks/>
          </p:cNvSpPr>
          <p:nvPr/>
        </p:nvSpPr>
        <p:spPr>
          <a:xfrm>
            <a:off x="1158816" y="922564"/>
            <a:ext cx="10194984" cy="768124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N" sz="50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Adobe Gothic Std B" panose="020B0800000000000000" pitchFamily="34" charset="-128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0ACEA-015B-D1BB-43E9-89066DBF372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IN" b="1" dirty="0">
              <a:ln w="0">
                <a:solidFill>
                  <a:schemeClr val="tx1"/>
                </a:solidFill>
              </a:ln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D8B9F1-8C72-294D-C681-9B8419890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8164"/>
            <a:ext cx="12065000" cy="56270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20BA855-1CA3-A208-2F56-099F4DAE25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4369" y="551369"/>
            <a:ext cx="656585" cy="1252935"/>
          </a:xfrm>
          <a:prstGeom prst="rect">
            <a:avLst/>
          </a:prstGeom>
        </p:spPr>
      </p:pic>
      <p:pic>
        <p:nvPicPr>
          <p:cNvPr id="6" name="Graphic 5" descr="Postit Notes with solid fill">
            <a:extLst>
              <a:ext uri="{FF2B5EF4-FFF2-40B4-BE49-F238E27FC236}">
                <a16:creationId xmlns:a16="http://schemas.microsoft.com/office/drawing/2014/main" id="{8F8C16FD-F5D4-3BFD-89D3-73C382E7106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4416" y="822236"/>
            <a:ext cx="914400" cy="914400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F235E3A-A173-7860-A539-4185D02973B8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The Netflix data analysis identifies important patterns in content distribution, genres, ratings, release dates, and global availability. The project showcases data-driven decision-making and practical analytical abilities by translating raw data into useful insights using </a:t>
            </a: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Excel</a:t>
            </a: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, </a:t>
            </a: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SQL</a:t>
            </a: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, </a:t>
            </a: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Python</a:t>
            </a: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, and </a:t>
            </a: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Power BI</a:t>
            </a:r>
            <a:r>
              <a:rPr lang="en-US" b="1" dirty="0">
                <a:ln w="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. This allows for informed business strategies and successful content planning.</a:t>
            </a:r>
          </a:p>
        </p:txBody>
      </p:sp>
    </p:spTree>
    <p:extLst>
      <p:ext uri="{BB962C8B-B14F-4D97-AF65-F5344CB8AC3E}">
        <p14:creationId xmlns:p14="http://schemas.microsoft.com/office/powerpoint/2010/main" val="22863958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1CF7DA1-3CBA-68AB-C13D-875EEE6B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56BFE95-C6AB-9193-90F2-C2796E940B8F}"/>
              </a:ext>
            </a:extLst>
          </p:cNvPr>
          <p:cNvSpPr/>
          <p:nvPr/>
        </p:nvSpPr>
        <p:spPr>
          <a:xfrm>
            <a:off x="0" y="54753"/>
            <a:ext cx="12192000" cy="6858000"/>
          </a:xfrm>
          <a:prstGeom prst="rect">
            <a:avLst/>
          </a:prstGeom>
          <a:solidFill>
            <a:schemeClr val="tx1">
              <a:alpha val="8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BFEA58-E607-1DE6-592F-6C5239777DC5}"/>
              </a:ext>
            </a:extLst>
          </p:cNvPr>
          <p:cNvSpPr txBox="1">
            <a:spLocks/>
          </p:cNvSpPr>
          <p:nvPr/>
        </p:nvSpPr>
        <p:spPr>
          <a:xfrm>
            <a:off x="838200" y="322119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7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Adobe Gothic Std B" panose="020B0800000000000000" pitchFamily="34" charset="-128"/>
              </a:rPr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0ACEA-015B-D1BB-43E9-89066DBF372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IN" b="1" dirty="0">
              <a:ln w="0">
                <a:solidFill>
                  <a:schemeClr val="tx1"/>
                </a:solidFill>
              </a:ln>
              <a:solidFill>
                <a:srgbClr val="FF000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B0F5CC4-79AD-B4C8-54DD-379742F8FB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4400" y="681037"/>
            <a:ext cx="3472575" cy="3472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3826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272</Words>
  <Application>Microsoft Office PowerPoint</Application>
  <PresentationFormat>Widescreen</PresentationFormat>
  <Paragraphs>33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Adobe Gothic Std B</vt:lpstr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rishabh Kumar</dc:creator>
  <cp:lastModifiedBy>rishabh Kumar</cp:lastModifiedBy>
  <cp:revision>16</cp:revision>
  <dcterms:created xsi:type="dcterms:W3CDTF">2026-07-05T07:35:03Z</dcterms:created>
  <dcterms:modified xsi:type="dcterms:W3CDTF">2026-07-06T06:56:30Z</dcterms:modified>
</cp:coreProperties>
</file>