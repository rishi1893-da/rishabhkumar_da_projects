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7281-EE70-E5D5-7508-811BE0249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FCEDE-0607-C0C0-C2BD-65D9C7462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B4B70-7F36-DE1B-431E-76E85B7D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5A60B-0266-DECA-CFEA-9CCF4063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C53C-15B4-81BB-C1D4-A404A515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6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EC6D-FAD0-A0E6-FC34-FBBE1183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4DE0-520E-42CC-EFAC-2662BBCA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1C190-0C69-A15F-70CE-D676A1C0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99BE-A91C-E3B5-F11F-A0BBA996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9F81-0CAC-32A5-0926-D889B24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70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85C5-1304-7C59-D374-CBFF4A49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FBEE4-A864-BDA1-3844-0E1E93AF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6E2E5-82B8-47BA-1F98-3CF51267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0889-8799-5293-DB32-208BE4A3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F7AE-7C7D-FFC9-5C97-BBD44616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44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AF89-796A-501D-A47A-8B8AC782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3C770-DA2B-415E-237D-BFBA13A67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EE10D-A09B-6710-2C79-085BC0182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B6D6E-9E59-12DB-D4D6-091C1DD1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56463-E327-745E-1D71-B1260E04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4332F-C8F6-C527-DB04-62AF2A14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8AFE-FFE2-ECA0-8743-5B8A40F3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7A321-C04E-4543-FE98-B578EFD04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71A8B-88DC-C0C9-E669-51BBDC68D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AC0AB-A487-959A-57F1-8BA665EA3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9A727-697D-5DF5-53FE-FC2D2921C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27F7F-0D18-9695-F056-B77055CD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6CC98-279F-57BA-A38F-899E9B41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1866F-2918-5A88-5559-590CDBB7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3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2C62-A81F-F7DE-2B93-31235F00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CB57C-23B6-9033-60AB-DFCF76DD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69863-C440-8C2D-0B56-99948A20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684C-E39A-091C-81CC-22CB834D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62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8470E-A86D-5ACF-9820-55AD76C1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A9032-B2C0-390F-D823-74004907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1B08-81B6-6725-25E8-93A8C880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1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3282-DD22-8243-1089-2D681CD5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07C2-F573-CC07-DD54-48B28CA7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2B66B-AC03-63A0-7422-5DA86C3E4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0021A-5E66-D57D-C1AC-74C5E711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035A7-71B1-5A8B-84AE-6B7D209C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9E2BF-4BF1-1FFD-B80B-2DE36903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38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30B2-4803-F208-296D-A9FDD4E2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0C65C-4976-B7F8-038B-EC6723256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A7B96-3184-A532-C51D-E76346F36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F2D0D-99F2-7704-DA1A-196E7B84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3CBC7-C4EB-AA03-C898-28B2FB72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8094D-DBC6-81A8-A85C-4DB4B2D7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43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409F-1841-D8BF-624A-ECBB9ED3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43250-B55C-5032-D822-E56BC1D7E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4DD87-D6BC-66B5-0717-04579F0F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7FECB-E87A-45AA-04F0-339D7CAA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929CD-CD06-B45D-3121-22FD8CD5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99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B23A6-170F-BC38-0E44-E346E40CC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FCE24-91AA-A6C7-4E61-A6B02EB68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FB899-A94A-0075-6997-F35A3829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06D98-0CAF-DD14-183A-97D06C8D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297EA-47D9-C2DA-0D6E-966ABD59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4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135A1-74BC-36CD-B79E-C609666B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875CD-59D4-0B26-03C2-44FA96F57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B169-10ED-1131-1BC2-389C1A3D1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82CDC-4627-4DDC-B9CF-FB4E7FDA464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821F2-FEE4-D8D5-525A-60AE416D8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3DF8-EF4A-CF23-6D8C-55616C8D3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1D910-0927-4A13-A91C-977258C4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freepngimg.com/png/26808-excel-transparent-image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hyperlink" Target="https://devblogs.microsoft.com/azure-sql/getting-started-with-ai-in-sql-server-2025-on-windows/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873D4-B528-A9C3-B69C-1FB577D78ADA}"/>
              </a:ext>
            </a:extLst>
          </p:cNvPr>
          <p:cNvSpPr txBox="1"/>
          <p:nvPr/>
        </p:nvSpPr>
        <p:spPr>
          <a:xfrm>
            <a:off x="2687216" y="2778492"/>
            <a:ext cx="9498434" cy="135421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IN" sz="41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ea typeface="Adobe Gothic Std B" panose="020B0800000000000000" pitchFamily="34" charset="-128"/>
              </a:rPr>
              <a:t>BANKING CHURN</a:t>
            </a:r>
            <a:r>
              <a:rPr lang="en-IN" sz="4100" b="1" dirty="0">
                <a:solidFill>
                  <a:schemeClr val="tx2">
                    <a:lumMod val="50000"/>
                    <a:lumOff val="50000"/>
                  </a:schemeClr>
                </a:solidFill>
                <a:ea typeface="Adobe Gothic Std B" panose="020B0800000000000000" pitchFamily="34" charset="-128"/>
              </a:rPr>
              <a:t> </a:t>
            </a:r>
            <a:r>
              <a:rPr lang="en-IN" sz="4100" b="1" dirty="0">
                <a:solidFill>
                  <a:schemeClr val="bg1"/>
                </a:solidFill>
                <a:ea typeface="Adobe Gothic Std B" panose="020B0800000000000000" pitchFamily="34" charset="-128"/>
              </a:rPr>
              <a:t>DATA ANALYTICS -</a:t>
            </a:r>
          </a:p>
          <a:p>
            <a:r>
              <a:rPr lang="en-IN" sz="4100" b="1" dirty="0">
                <a:solidFill>
                  <a:schemeClr val="bg1"/>
                </a:solidFill>
                <a:ea typeface="Adobe Gothic Std B" panose="020B0800000000000000" pitchFamily="34" charset="-128"/>
              </a:rPr>
              <a:t>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5DF18-7333-DC48-D56C-1E2F61727BD0}"/>
              </a:ext>
            </a:extLst>
          </p:cNvPr>
          <p:cNvSpPr txBox="1"/>
          <p:nvPr/>
        </p:nvSpPr>
        <p:spPr>
          <a:xfrm>
            <a:off x="8623300" y="5726880"/>
            <a:ext cx="3568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accent1">
                    <a:lumMod val="60000"/>
                    <a:lumOff val="40000"/>
                  </a:schemeClr>
                </a:solidFill>
                <a:ea typeface="Adobe Gothic Std B" panose="020B0800000000000000" pitchFamily="34" charset="-128"/>
              </a:rPr>
              <a:t>PRESENTED BY:</a:t>
            </a:r>
          </a:p>
          <a:p>
            <a:r>
              <a:rPr lang="en-IN" sz="3200" b="1" dirty="0">
                <a:solidFill>
                  <a:schemeClr val="bg1"/>
                </a:solidFill>
                <a:ea typeface="Adobe Gothic Std B" panose="020B0800000000000000" pitchFamily="34" charset="-128"/>
              </a:rPr>
              <a:t>RISHABH KUMAR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F662D8-3758-6D61-45AA-121BCB8C2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9" y="2767080"/>
            <a:ext cx="1555587" cy="13417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6360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EFEEA-BB29-D109-2356-F03C9B1F95D5}"/>
              </a:ext>
            </a:extLst>
          </p:cNvPr>
          <p:cNvSpPr txBox="1">
            <a:spLocks/>
          </p:cNvSpPr>
          <p:nvPr/>
        </p:nvSpPr>
        <p:spPr>
          <a:xfrm>
            <a:off x="1477736" y="681037"/>
            <a:ext cx="9876064" cy="1009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TABLE OF CONTENTS</a:t>
            </a:r>
          </a:p>
        </p:txBody>
      </p:sp>
      <p:pic>
        <p:nvPicPr>
          <p:cNvPr id="3" name="Graphic 2" descr="Table with solid fill">
            <a:extLst>
              <a:ext uri="{FF2B5EF4-FFF2-40B4-BE49-F238E27FC236}">
                <a16:creationId xmlns:a16="http://schemas.microsoft.com/office/drawing/2014/main" id="{5F789534-2301-3E5E-8A7A-4D89AA8B3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226" y="751899"/>
            <a:ext cx="1080938" cy="108093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6F3B3B-612C-327A-76E0-FB06BBBFBE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Summary of Project.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KPI List.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EXCEL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SQL Queries.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Key Insights.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565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EAC4538-71D1-7CC1-C7D2-53BEE4E3AFA5}"/>
              </a:ext>
            </a:extLst>
          </p:cNvPr>
          <p:cNvSpPr txBox="1">
            <a:spLocks/>
          </p:cNvSpPr>
          <p:nvPr/>
        </p:nvSpPr>
        <p:spPr>
          <a:xfrm>
            <a:off x="1224644" y="715108"/>
            <a:ext cx="10129156" cy="975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SUMMARY OF THE PROJECT</a:t>
            </a:r>
          </a:p>
        </p:txBody>
      </p:sp>
      <p:pic>
        <p:nvPicPr>
          <p:cNvPr id="8" name="Graphic 7" descr="Typewriter with solid fill">
            <a:extLst>
              <a:ext uri="{FF2B5EF4-FFF2-40B4-BE49-F238E27FC236}">
                <a16:creationId xmlns:a16="http://schemas.microsoft.com/office/drawing/2014/main" id="{DD52469B-97B4-A1E0-8BBE-3D5947344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206" y="776288"/>
            <a:ext cx="914400" cy="914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2DB4AC-DBD2-917F-E6BE-70BBC89D61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Banking Customer Churn Analysis is a data analytics effort aimed at determining the variables that influence customer attrition and enhancing retention. I used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Excel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SQL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to evaluate customer demographics, financial behavior, and product usage to identify churn tendencies. </a:t>
            </a:r>
          </a:p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The project includes interactive dashboards, important KPIs, and actionable business insights that enable data-driven strategies for reducing churn, increasing customer engagement, improving retention rates, and supporting long-term company success.</a:t>
            </a:r>
            <a:endParaRPr lang="en-IN" b="1" dirty="0">
              <a:ln w="0"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98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7E0656-8133-28CF-D537-8AFCD776FF36}"/>
              </a:ext>
            </a:extLst>
          </p:cNvPr>
          <p:cNvSpPr txBox="1">
            <a:spLocks/>
          </p:cNvSpPr>
          <p:nvPr/>
        </p:nvSpPr>
        <p:spPr>
          <a:xfrm>
            <a:off x="1330779" y="816429"/>
            <a:ext cx="10023021" cy="874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Top KPI LIST</a:t>
            </a:r>
          </a:p>
        </p:txBody>
      </p:sp>
      <p:pic>
        <p:nvPicPr>
          <p:cNvPr id="3" name="Graphic 2" descr="Credit card with solid fill">
            <a:extLst>
              <a:ext uri="{FF2B5EF4-FFF2-40B4-BE49-F238E27FC236}">
                <a16:creationId xmlns:a16="http://schemas.microsoft.com/office/drawing/2014/main" id="{EFFB0364-E9DE-8883-AD3D-591709144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10" y="812928"/>
            <a:ext cx="914400" cy="9144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7C3B0F-3439-554D-2AAB-4D97DB7AE12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IN" b="1" dirty="0">
              <a:ln w="0"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B2DF-4BD4-64BA-71CE-34FC6DEBBD69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Total Customers.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Churned Customers.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Retained Customers.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Credit Score.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Account Balance.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Active Members.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Churn Rate (%).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Churn By Geography.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Retention Rate.</a:t>
            </a:r>
          </a:p>
        </p:txBody>
      </p:sp>
    </p:spTree>
    <p:extLst>
      <p:ext uri="{BB962C8B-B14F-4D97-AF65-F5344CB8AC3E}">
        <p14:creationId xmlns:p14="http://schemas.microsoft.com/office/powerpoint/2010/main" val="420604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0EB4A83-4C71-629A-560E-95B05F63D191}"/>
              </a:ext>
            </a:extLst>
          </p:cNvPr>
          <p:cNvSpPr txBox="1">
            <a:spLocks/>
          </p:cNvSpPr>
          <p:nvPr/>
        </p:nvSpPr>
        <p:spPr>
          <a:xfrm>
            <a:off x="1249136" y="831090"/>
            <a:ext cx="10104663" cy="73829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EXCEL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23C45-4F7D-4C50-DB6A-E385517E8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72216" y="860421"/>
            <a:ext cx="671177" cy="671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9AFCA-D282-4599-440E-EF4E91FB5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35" y="1617671"/>
            <a:ext cx="10104663" cy="5057179"/>
          </a:xfrm>
          <a:prstGeom prst="rect">
            <a:avLst/>
          </a:prstGeom>
          <a:ln w="381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18167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E5C0E-C097-FFC0-BBBC-9C492CBA2BAB}"/>
              </a:ext>
            </a:extLst>
          </p:cNvPr>
          <p:cNvSpPr txBox="1">
            <a:spLocks/>
          </p:cNvSpPr>
          <p:nvPr/>
        </p:nvSpPr>
        <p:spPr>
          <a:xfrm>
            <a:off x="1224524" y="947057"/>
            <a:ext cx="10129276" cy="7436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SQL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E2276-2CA9-324D-587A-EA6310CE4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595813"/>
            <a:ext cx="1343694" cy="1341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CFCDD4-F7C4-D7F8-9238-ABEE40CE5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67" y="1686023"/>
            <a:ext cx="3937562" cy="499706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A5AE72-75FE-0190-9F2B-8624D47DC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72" y="1686022"/>
            <a:ext cx="3214779" cy="4997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9B732B-FDB4-54E2-91E1-5888CC793C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794" y="700554"/>
            <a:ext cx="3115110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6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95322E9-7EB3-51DD-FB5A-A936CBB9CF70}"/>
              </a:ext>
            </a:extLst>
          </p:cNvPr>
          <p:cNvSpPr txBox="1">
            <a:spLocks/>
          </p:cNvSpPr>
          <p:nvPr/>
        </p:nvSpPr>
        <p:spPr>
          <a:xfrm>
            <a:off x="1130767" y="947057"/>
            <a:ext cx="10232364" cy="7436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KEY INSIGHTS</a:t>
            </a:r>
          </a:p>
        </p:txBody>
      </p:sp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C122C8B0-6C4D-37FD-384A-F38CC6166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036" y="819245"/>
            <a:ext cx="914400" cy="91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BEC8C7-5FB8-75CB-E211-AC7750AB408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Approximately 20% of consumers have churned, underscoring the need for more effective retention methods.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Inactive clients are far more likely to depart than active customers.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Customers aged 40-60 have the greatest turnover rates.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Churn varies by geographic area, reflecting location-specific customer behavior.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Customers with only one banking product are more likely to leave than those with many products.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Higher account balance consumers have significant turnover, necessitating aggressive interaction.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Lower credit ratings and shorter tenure are related with increased turnover risk.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Personalized offers, cross-selling, and predictive analytics can boost client retention and long-term profitability.</a:t>
            </a:r>
            <a:endParaRPr lang="en-IN" b="1" dirty="0">
              <a:ln w="0"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7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12F71F-6804-B4D3-984B-A2BA4AF5E1B0}"/>
              </a:ext>
            </a:extLst>
          </p:cNvPr>
          <p:cNvSpPr txBox="1">
            <a:spLocks/>
          </p:cNvSpPr>
          <p:nvPr/>
        </p:nvSpPr>
        <p:spPr>
          <a:xfrm>
            <a:off x="1158816" y="922564"/>
            <a:ext cx="10194984" cy="768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CONCLUSION</a:t>
            </a:r>
          </a:p>
        </p:txBody>
      </p:sp>
      <p:pic>
        <p:nvPicPr>
          <p:cNvPr id="3" name="Graphic 2" descr="Postit Notes with solid fill">
            <a:extLst>
              <a:ext uri="{FF2B5EF4-FFF2-40B4-BE49-F238E27FC236}">
                <a16:creationId xmlns:a16="http://schemas.microsoft.com/office/drawing/2014/main" id="{F4A8AB67-E4E6-CC3F-F7F0-A193E0E74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416" y="822236"/>
            <a:ext cx="914400" cy="91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40B003-F916-B6E1-3EA2-FD8A71CCF0A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The Banking Customer Churn Analysis study was effective in identifying the primary variables impacting customer attrition by evaluating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customer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demographics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financial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behavior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account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activity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The research, conducted using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Excel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SQL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 indicated that customer interaction, product uptake, tenure, and geographic location all had a substantial influence on turnover. </a:t>
            </a:r>
          </a:p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The interactive dashboard enables stakeholders to track key performance indicators, identify high-risk consumer categories, and make data-driven choices. </a:t>
            </a:r>
          </a:p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The findings and recommendations support proactive retention tactics, which may help banks increase customer happiness, minimize churn, develop long-term client relationships, and boost overall business profitability.</a:t>
            </a:r>
          </a:p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0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65310-79E5-E7A3-6406-E073EC4BA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B7F6A8-F1C7-20E9-7046-611290B67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792686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7ABA-E6F0-0811-C471-6DA23331C2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563997" y="5861108"/>
            <a:ext cx="2628003" cy="94502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1E640E4-F74E-5BAB-A45F-AA8962399EC3}"/>
              </a:ext>
            </a:extLst>
          </p:cNvPr>
          <p:cNvSpPr txBox="1">
            <a:spLocks/>
          </p:cNvSpPr>
          <p:nvPr/>
        </p:nvSpPr>
        <p:spPr>
          <a:xfrm>
            <a:off x="838200" y="3221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4759E-0417-BA7C-1CD2-5C96E9514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7571" y="1589895"/>
            <a:ext cx="1996857" cy="1839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052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373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Adobe Gothic Std B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Kumar</dc:creator>
  <cp:lastModifiedBy>rishabh Kumar</cp:lastModifiedBy>
  <cp:revision>1</cp:revision>
  <dcterms:created xsi:type="dcterms:W3CDTF">2026-08-01T13:57:30Z</dcterms:created>
  <dcterms:modified xsi:type="dcterms:W3CDTF">2026-08-01T14:51:53Z</dcterms:modified>
</cp:coreProperties>
</file>